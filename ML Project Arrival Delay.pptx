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  <p:sldId id="268" r:id="rId2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1" name="Blob"/>
          <p:cNvSpPr/>
          <p:nvPr/>
        </p:nvSpPr>
        <p:spPr>
          <a:xfrm>
            <a:off x="9418320" y="-1554480"/>
            <a:ext cx="4480560" cy="4480560"/>
          </a:xfrm>
          <a:prstGeom prst="ellipse">
            <a:avLst/>
          </a:prstGeom>
          <a:solidFill>
            <a:srgbClr val="9B78F7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Blob"/>
          <p:cNvSpPr/>
          <p:nvPr/>
        </p:nvSpPr>
        <p:spPr>
          <a:xfrm>
            <a:off x="10972800" y="4572000"/>
            <a:ext cx="2377440" cy="2377440"/>
          </a:xfrm>
          <a:prstGeom prst="ellipse">
            <a:avLst/>
          </a:prstGeom>
          <a:solidFill>
            <a:srgbClr val="522CBA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3" name="Dot"/>
          <p:cNvSpPr/>
          <p:nvPr/>
        </p:nvSpPr>
        <p:spPr>
          <a:xfrm>
            <a:off x="10104120" y="2788920"/>
            <a:ext cx="457200" cy="457200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Dot"/>
          <p:cNvSpPr/>
          <p:nvPr/>
        </p:nvSpPr>
        <p:spPr>
          <a:xfrm>
            <a:off x="10927080" y="3310128"/>
            <a:ext cx="274320" cy="274320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5" name="Text"/>
          <p:cNvSpPr/>
          <p:nvPr/>
        </p:nvSpPr>
        <p:spPr>
          <a:xfrm>
            <a:off x="822960" y="16916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MACHINE LEARNING CAPSTONE</a:t>
            </a:r>
          </a:p>
        </p:txBody>
      </p:sp>
      <p:sp>
        <p:nvSpPr>
          <p:cNvPr id="106" name="Text"/>
          <p:cNvSpPr/>
          <p:nvPr/>
        </p:nvSpPr>
        <p:spPr>
          <a:xfrm>
            <a:off x="822960" y="210312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Flight Arrival</a:t>
            </a:r>
          </a:p>
          <a:p>
            <a:pPr indent="0" marL="0">
              <a:lnSpc>
                <a:spcPts val="5200"/>
              </a:lnSpc>
              <a:buNone/>
            </a:pPr>
            <a:r>
              <a:rPr lang="en-US" sz="46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Delay Prediction</a:t>
            </a:r>
          </a:p>
        </p:txBody>
      </p:sp>
      <p:sp>
        <p:nvSpPr>
          <p:cNvPr id="107" name="Text"/>
          <p:cNvSpPr/>
          <p:nvPr/>
        </p:nvSpPr>
        <p:spPr>
          <a:xfrm>
            <a:off x="822960" y="396849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late will it land, the moment it leaves the gate?</a:t>
            </a:r>
          </a:p>
        </p:txBody>
      </p:sp>
      <p:sp>
        <p:nvSpPr>
          <p:cNvPr id="108" name="Dot"/>
          <p:cNvSpPr/>
          <p:nvPr/>
        </p:nvSpPr>
        <p:spPr>
          <a:xfrm>
            <a:off x="822960" y="4754880"/>
            <a:ext cx="118872" cy="118872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Text"/>
          <p:cNvSpPr/>
          <p:nvPr/>
        </p:nvSpPr>
        <p:spPr>
          <a:xfrm>
            <a:off x="822960" y="495604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5.69M</a:t>
            </a:r>
          </a:p>
        </p:txBody>
      </p:sp>
      <p:sp>
        <p:nvSpPr>
          <p:cNvPr id="110" name="Text"/>
          <p:cNvSpPr/>
          <p:nvPr/>
        </p:nvSpPr>
        <p:spPr>
          <a:xfrm>
            <a:off x="822960" y="5440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flights</a:t>
            </a:r>
          </a:p>
        </p:txBody>
      </p:sp>
      <p:sp>
        <p:nvSpPr>
          <p:cNvPr id="111" name="Dot"/>
          <p:cNvSpPr/>
          <p:nvPr/>
        </p:nvSpPr>
        <p:spPr>
          <a:xfrm>
            <a:off x="2971800" y="4754880"/>
            <a:ext cx="118872" cy="118872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2" name="Text"/>
          <p:cNvSpPr/>
          <p:nvPr/>
        </p:nvSpPr>
        <p:spPr>
          <a:xfrm>
            <a:off x="2971800" y="495604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</a:p>
        </p:txBody>
      </p:sp>
      <p:sp>
        <p:nvSpPr>
          <p:cNvPr id="113" name="Text"/>
          <p:cNvSpPr/>
          <p:nvPr/>
        </p:nvSpPr>
        <p:spPr>
          <a:xfrm>
            <a:off x="2971800" y="5440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models</a:t>
            </a:r>
          </a:p>
        </p:txBody>
      </p:sp>
      <p:sp>
        <p:nvSpPr>
          <p:cNvPr id="114" name="Dot"/>
          <p:cNvSpPr/>
          <p:nvPr/>
        </p:nvSpPr>
        <p:spPr>
          <a:xfrm>
            <a:off x="5120640" y="4754880"/>
            <a:ext cx="118872" cy="118872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5" name="Text"/>
          <p:cNvSpPr/>
          <p:nvPr/>
        </p:nvSpPr>
        <p:spPr>
          <a:xfrm>
            <a:off x="5120640" y="495604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0.965</a:t>
            </a:r>
          </a:p>
        </p:txBody>
      </p:sp>
      <p:sp>
        <p:nvSpPr>
          <p:cNvPr id="116" name="Text"/>
          <p:cNvSpPr/>
          <p:nvPr/>
        </p:nvSpPr>
        <p:spPr>
          <a:xfrm>
            <a:off x="5120640" y="5440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ROC-AUC</a:t>
            </a:r>
          </a:p>
        </p:txBody>
      </p:sp>
      <p:sp>
        <p:nvSpPr>
          <p:cNvPr id="117" name="Dot"/>
          <p:cNvSpPr/>
          <p:nvPr/>
        </p:nvSpPr>
        <p:spPr>
          <a:xfrm>
            <a:off x="7269480" y="4754880"/>
            <a:ext cx="118872" cy="118872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Text"/>
          <p:cNvSpPr/>
          <p:nvPr/>
        </p:nvSpPr>
        <p:spPr>
          <a:xfrm>
            <a:off x="7269480" y="495604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7.3 min</a:t>
            </a:r>
          </a:p>
        </p:txBody>
      </p:sp>
      <p:sp>
        <p:nvSpPr>
          <p:cNvPr id="119" name="Text"/>
          <p:cNvSpPr/>
          <p:nvPr/>
        </p:nvSpPr>
        <p:spPr>
          <a:xfrm>
            <a:off x="7269480" y="5440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 error</a:t>
            </a:r>
          </a:p>
        </p:txBody>
      </p:sp>
      <p:sp>
        <p:nvSpPr>
          <p:cNvPr id="120" name="Text"/>
          <p:cNvSpPr/>
          <p:nvPr/>
        </p:nvSpPr>
        <p:spPr>
          <a:xfrm>
            <a:off x="822960" y="59618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Khalid Al Dosari  ·  Abdulaziz Alshareef  ·  Anas Alzahrani  ·  Feras Madkhali</a:t>
            </a:r>
          </a:p>
        </p:txBody>
      </p:sp>
      <p:sp>
        <p:nvSpPr>
          <p:cNvPr id="121" name="Text"/>
          <p:cNvSpPr/>
          <p:nvPr/>
        </p:nvSpPr>
        <p:spPr>
          <a:xfrm>
            <a:off x="822960" y="6291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Tuwaiq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22" name="Text"/>
          <p:cNvSpPr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questions, one moment</a:t>
            </a:r>
          </a:p>
        </p:txBody>
      </p:sp>
      <p:sp>
        <p:nvSpPr>
          <p:cNvPr id="123" name="Dot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4" name="Text"/>
          <p:cNvSpPr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rows, same features, same split</a:t>
            </a:r>
          </a:p>
        </p:txBody>
      </p:sp>
      <p:sp>
        <p:nvSpPr>
          <p:cNvPr id="125" name="Card"/>
          <p:cNvSpPr/>
          <p:nvPr/>
        </p:nvSpPr>
        <p:spPr>
          <a:xfrm>
            <a:off x="566928" y="1572768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126" name="Dot"/>
          <p:cNvSpPr/>
          <p:nvPr/>
        </p:nvSpPr>
        <p:spPr>
          <a:xfrm>
            <a:off x="841247" y="1874519"/>
            <a:ext cx="137160" cy="137160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7" name="Text"/>
          <p:cNvSpPr/>
          <p:nvPr/>
        </p:nvSpPr>
        <p:spPr>
          <a:xfrm>
            <a:off x="1106424" y="1773936"/>
            <a:ext cx="4626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Classification</a:t>
            </a:r>
          </a:p>
        </p:txBody>
      </p:sp>
      <p:sp>
        <p:nvSpPr>
          <p:cNvPr id="128" name="Text"/>
          <p:cNvSpPr/>
          <p:nvPr/>
        </p:nvSpPr>
        <p:spPr>
          <a:xfrm>
            <a:off x="841247" y="2231136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ArrDel15: will it land 15 minutes late or more?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Judged on ROC-AUC, not Accuracy</a:t>
            </a:r>
          </a:p>
        </p:txBody>
      </p:sp>
      <p:sp>
        <p:nvSpPr>
          <p:cNvPr id="129" name="Card"/>
          <p:cNvSpPr/>
          <p:nvPr/>
        </p:nvSpPr>
        <p:spPr>
          <a:xfrm>
            <a:off x="6199632" y="1572768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130" name="Dot"/>
          <p:cNvSpPr/>
          <p:nvPr/>
        </p:nvSpPr>
        <p:spPr>
          <a:xfrm>
            <a:off x="6473952" y="1874519"/>
            <a:ext cx="137160" cy="137160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1" name="Text"/>
          <p:cNvSpPr/>
          <p:nvPr/>
        </p:nvSpPr>
        <p:spPr>
          <a:xfrm>
            <a:off x="6739128" y="1773936"/>
            <a:ext cx="4626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Regression</a:t>
            </a:r>
          </a:p>
        </p:txBody>
      </p:sp>
      <p:sp>
        <p:nvSpPr>
          <p:cNvPr id="132" name="Text"/>
          <p:cNvSpPr/>
          <p:nvPr/>
        </p:nvSpPr>
        <p:spPr>
          <a:xfrm>
            <a:off x="6473952" y="2231136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ArrDelay: how many minutes late, and it can be negative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Judged on R2 and mean absolute error</a:t>
            </a:r>
          </a:p>
        </p:txBody>
      </p:sp>
      <p:sp>
        <p:nvSpPr>
          <p:cNvPr id="133" name="Card"/>
          <p:cNvSpPr/>
          <p:nvPr/>
        </p:nvSpPr>
        <p:spPr>
          <a:xfrm>
            <a:off x="566928" y="3712463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134" name="Dot"/>
          <p:cNvSpPr/>
          <p:nvPr/>
        </p:nvSpPr>
        <p:spPr>
          <a:xfrm>
            <a:off x="841247" y="4014215"/>
            <a:ext cx="137160" cy="137160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5" name="Text"/>
          <p:cNvSpPr/>
          <p:nvPr/>
        </p:nvSpPr>
        <p:spPr>
          <a:xfrm>
            <a:off x="1106424" y="3913631"/>
            <a:ext cx="4626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is worth doing</a:t>
            </a:r>
          </a:p>
        </p:txBody>
      </p:sp>
      <p:sp>
        <p:nvSpPr>
          <p:cNvPr id="136" name="Text"/>
          <p:cNvSpPr/>
          <p:nvPr/>
        </p:nvSpPr>
        <p:spPr>
          <a:xfrm>
            <a:off x="841247" y="4370831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Airlines, airports and connecting passengers need a sharper number than the printed schedule once a plane pushes back.</a:t>
            </a:r>
          </a:p>
        </p:txBody>
      </p:sp>
      <p:sp>
        <p:nvSpPr>
          <p:cNvPr id="137" name="Card"/>
          <p:cNvSpPr/>
          <p:nvPr/>
        </p:nvSpPr>
        <p:spPr>
          <a:xfrm>
            <a:off x="6199632" y="3712463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138" name="Dot"/>
          <p:cNvSpPr/>
          <p:nvPr/>
        </p:nvSpPr>
        <p:spPr>
          <a:xfrm>
            <a:off x="6473952" y="4014215"/>
            <a:ext cx="137160" cy="137160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9" name="Text"/>
          <p:cNvSpPr/>
          <p:nvPr/>
        </p:nvSpPr>
        <p:spPr>
          <a:xfrm>
            <a:off x="6739128" y="3913631"/>
            <a:ext cx="4626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a model and not a formula</a:t>
            </a:r>
          </a:p>
        </p:txBody>
      </p:sp>
      <p:sp>
        <p:nvSpPr>
          <p:cNvPr id="140" name="Text"/>
          <p:cNvSpPr/>
          <p:nvPr/>
        </p:nvSpPr>
        <p:spPr>
          <a:xfrm>
            <a:off x="6473952" y="4370831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Delay depends on how late the plane already is, ground congestion, route, carrier and time of day, all interacting.</a:t>
            </a:r>
          </a:p>
        </p:txBody>
      </p:sp>
      <p:sp>
        <p:nvSpPr>
          <p:cNvPr id="141" name="Card"/>
          <p:cNvSpPr/>
          <p:nvPr/>
        </p:nvSpPr>
        <p:spPr>
          <a:xfrm>
            <a:off x="566928" y="5852160"/>
            <a:ext cx="11073384" cy="713232"/>
          </a:xfrm>
          <a:prstGeom prst="roundRect">
            <a:avLst>
              <a:gd name="adj" fmla="val 10256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142" name="Dot"/>
          <p:cNvSpPr/>
          <p:nvPr/>
        </p:nvSpPr>
        <p:spPr>
          <a:xfrm>
            <a:off x="859536" y="6126480"/>
            <a:ext cx="164592" cy="164592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3" name="Text"/>
          <p:cNvSpPr/>
          <p:nvPr/>
        </p:nvSpPr>
        <p:spPr>
          <a:xfrm>
            <a:off x="1170432" y="5943600"/>
            <a:ext cx="10158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prediction is made the moment the aircraft leaves the gate.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44" name="Text"/>
          <p:cNvSpPr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data</a:t>
            </a:r>
          </a:p>
        </p:txBody>
      </p:sp>
      <p:sp>
        <p:nvSpPr>
          <p:cNvPr id="145" name="Dot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6" name="Text"/>
          <p:cNvSpPr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row is one scheduled domestic flight, BTS 2018</a:t>
            </a:r>
          </a:p>
        </p:txBody>
      </p:sp>
      <p:sp>
        <p:nvSpPr>
          <p:cNvPr id="147" name="Card"/>
          <p:cNvSpPr/>
          <p:nvPr/>
        </p:nvSpPr>
        <p:spPr>
          <a:xfrm>
            <a:off x="566928" y="1572768"/>
            <a:ext cx="2615184" cy="1298448"/>
          </a:xfrm>
          <a:prstGeom prst="roundRect">
            <a:avLst>
              <a:gd name="adj" fmla="val 5634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148" name="Dot"/>
          <p:cNvSpPr/>
          <p:nvPr/>
        </p:nvSpPr>
        <p:spPr>
          <a:xfrm>
            <a:off x="2871216" y="1755648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9" name="Text"/>
          <p:cNvSpPr/>
          <p:nvPr/>
        </p:nvSpPr>
        <p:spPr>
          <a:xfrm>
            <a:off x="768096" y="1755648"/>
            <a:ext cx="20665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5,689,512</a:t>
            </a:r>
          </a:p>
        </p:txBody>
      </p:sp>
      <p:sp>
        <p:nvSpPr>
          <p:cNvPr id="150" name="Text"/>
          <p:cNvSpPr/>
          <p:nvPr/>
        </p:nvSpPr>
        <p:spPr>
          <a:xfrm>
            <a:off x="768096" y="22860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rows in the raw file</a:t>
            </a:r>
          </a:p>
        </p:txBody>
      </p:sp>
      <p:sp>
        <p:nvSpPr>
          <p:cNvPr id="151" name="Card"/>
          <p:cNvSpPr/>
          <p:nvPr/>
        </p:nvSpPr>
        <p:spPr>
          <a:xfrm>
            <a:off x="3392424" y="1572768"/>
            <a:ext cx="2615184" cy="1298448"/>
          </a:xfrm>
          <a:prstGeom prst="roundRect">
            <a:avLst>
              <a:gd name="adj" fmla="val 5634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152" name="Dot"/>
          <p:cNvSpPr/>
          <p:nvPr/>
        </p:nvSpPr>
        <p:spPr>
          <a:xfrm>
            <a:off x="5696712" y="1755648"/>
            <a:ext cx="146304" cy="146304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3" name="Text"/>
          <p:cNvSpPr/>
          <p:nvPr/>
        </p:nvSpPr>
        <p:spPr>
          <a:xfrm>
            <a:off x="3593592" y="1755648"/>
            <a:ext cx="20665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61</a:t>
            </a:r>
          </a:p>
        </p:txBody>
      </p:sp>
      <p:sp>
        <p:nvSpPr>
          <p:cNvPr id="154" name="Text"/>
          <p:cNvSpPr/>
          <p:nvPr/>
        </p:nvSpPr>
        <p:spPr>
          <a:xfrm>
            <a:off x="3593592" y="22860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columns before selection</a:t>
            </a:r>
          </a:p>
        </p:txBody>
      </p:sp>
      <p:sp>
        <p:nvSpPr>
          <p:cNvPr id="155" name="Card"/>
          <p:cNvSpPr/>
          <p:nvPr/>
        </p:nvSpPr>
        <p:spPr>
          <a:xfrm>
            <a:off x="6217920" y="1572768"/>
            <a:ext cx="2615184" cy="1298448"/>
          </a:xfrm>
          <a:prstGeom prst="roundRect">
            <a:avLst>
              <a:gd name="adj" fmla="val 5634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156" name="Dot"/>
          <p:cNvSpPr/>
          <p:nvPr/>
        </p:nvSpPr>
        <p:spPr>
          <a:xfrm>
            <a:off x="8522208" y="1755648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7" name="Text"/>
          <p:cNvSpPr/>
          <p:nvPr/>
        </p:nvSpPr>
        <p:spPr>
          <a:xfrm>
            <a:off x="6419088" y="1755648"/>
            <a:ext cx="20665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5,578,560</a:t>
            </a:r>
          </a:p>
        </p:txBody>
      </p:sp>
      <p:sp>
        <p:nvSpPr>
          <p:cNvPr id="158" name="Text"/>
          <p:cNvSpPr/>
          <p:nvPr/>
        </p:nvSpPr>
        <p:spPr>
          <a:xfrm>
            <a:off x="6419088" y="22860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rows after cleaning</a:t>
            </a:r>
          </a:p>
        </p:txBody>
      </p:sp>
      <p:sp>
        <p:nvSpPr>
          <p:cNvPr id="159" name="Card"/>
          <p:cNvSpPr/>
          <p:nvPr/>
        </p:nvSpPr>
        <p:spPr>
          <a:xfrm>
            <a:off x="9043416" y="1572768"/>
            <a:ext cx="2615184" cy="1298448"/>
          </a:xfrm>
          <a:prstGeom prst="roundRect">
            <a:avLst>
              <a:gd name="adj" fmla="val 5634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160" name="Dot"/>
          <p:cNvSpPr/>
          <p:nvPr/>
        </p:nvSpPr>
        <p:spPr>
          <a:xfrm>
            <a:off x="11347704" y="1755648"/>
            <a:ext cx="146304" cy="146304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1" name="Text"/>
          <p:cNvSpPr/>
          <p:nvPr/>
        </p:nvSpPr>
        <p:spPr>
          <a:xfrm>
            <a:off x="9244584" y="1755648"/>
            <a:ext cx="20665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30,000</a:t>
            </a:r>
          </a:p>
        </p:txBody>
      </p:sp>
      <p:sp>
        <p:nvSpPr>
          <p:cNvPr id="162" name="Text"/>
          <p:cNvSpPr/>
          <p:nvPr/>
        </p:nvSpPr>
        <p:spPr>
          <a:xfrm>
            <a:off x="9244584" y="22860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rows modelled</a:t>
            </a:r>
          </a:p>
        </p:txBody>
      </p:sp>
      <p:sp>
        <p:nvSpPr>
          <p:cNvPr id="163" name="Card"/>
          <p:cNvSpPr/>
          <p:nvPr/>
        </p:nvSpPr>
        <p:spPr>
          <a:xfrm>
            <a:off x="566928" y="3108960"/>
            <a:ext cx="5440680" cy="2157984"/>
          </a:xfrm>
          <a:prstGeom prst="roundRect">
            <a:avLst>
              <a:gd name="adj" fmla="val 339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164" name="Dot"/>
          <p:cNvSpPr/>
          <p:nvPr/>
        </p:nvSpPr>
        <p:spPr>
          <a:xfrm>
            <a:off x="841247" y="3410712"/>
            <a:ext cx="137160" cy="137160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5" name="Text"/>
          <p:cNvSpPr/>
          <p:nvPr/>
        </p:nvSpPr>
        <p:spPr>
          <a:xfrm>
            <a:off x="1106424" y="3310128"/>
            <a:ext cx="4626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Numerical features</a:t>
            </a:r>
          </a:p>
        </p:txBody>
      </p:sp>
      <p:sp>
        <p:nvSpPr>
          <p:cNvPr id="166" name="Text"/>
          <p:cNvSpPr/>
          <p:nvPr/>
        </p:nvSpPr>
        <p:spPr>
          <a:xfrm>
            <a:off x="841247" y="3767328"/>
            <a:ext cx="489204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DepDelay  ·  TaxiOut  ·  CRSElapsedTime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Month  ·  DayofMonth  ·  DayOfWeek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CRSDepTime as cyclic sine and cosine</a:t>
            </a:r>
          </a:p>
        </p:txBody>
      </p:sp>
      <p:sp>
        <p:nvSpPr>
          <p:cNvPr id="167" name="Card"/>
          <p:cNvSpPr/>
          <p:nvPr/>
        </p:nvSpPr>
        <p:spPr>
          <a:xfrm>
            <a:off x="6199632" y="3108960"/>
            <a:ext cx="5440680" cy="2157984"/>
          </a:xfrm>
          <a:prstGeom prst="roundRect">
            <a:avLst>
              <a:gd name="adj" fmla="val 339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168" name="Dot"/>
          <p:cNvSpPr/>
          <p:nvPr/>
        </p:nvSpPr>
        <p:spPr>
          <a:xfrm>
            <a:off x="6473952" y="3410712"/>
            <a:ext cx="137160" cy="137160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9" name="Text"/>
          <p:cNvSpPr/>
          <p:nvPr/>
        </p:nvSpPr>
        <p:spPr>
          <a:xfrm>
            <a:off x="6739128" y="3310128"/>
            <a:ext cx="4626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Categorical features</a:t>
            </a:r>
          </a:p>
        </p:txBody>
      </p:sp>
      <p:sp>
        <p:nvSpPr>
          <p:cNvPr id="170" name="Text"/>
          <p:cNvSpPr/>
          <p:nvPr/>
        </p:nvSpPr>
        <p:spPr>
          <a:xfrm>
            <a:off x="6473952" y="3767328"/>
            <a:ext cx="489204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Airline: 28 carriers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Origin: 370 airports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Dest: 370 airports, one hot with a frequency floor</a:t>
            </a:r>
          </a:p>
        </p:txBody>
      </p:sp>
      <p:sp>
        <p:nvSpPr>
          <p:cNvPr id="171" name="Text"/>
          <p:cNvSpPr/>
          <p:nvPr/>
        </p:nvSpPr>
        <p:spPr>
          <a:xfrm>
            <a:off x="841248" y="5394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targets: ArrDel15 and ArrDelay</a:t>
            </a:r>
          </a:p>
        </p:txBody>
      </p:sp>
      <p:sp>
        <p:nvSpPr>
          <p:cNvPr id="172" name="Text"/>
          <p:cNvSpPr/>
          <p:nvPr/>
        </p:nvSpPr>
        <p:spPr>
          <a:xfrm>
            <a:off x="6473952" y="5394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Split 60 / 20 / 20, stratified on ArrDel15</a:t>
            </a:r>
          </a:p>
        </p:txBody>
      </p:sp>
      <p:sp>
        <p:nvSpPr>
          <p:cNvPr id="173" name="Card"/>
          <p:cNvSpPr/>
          <p:nvPr/>
        </p:nvSpPr>
        <p:spPr>
          <a:xfrm>
            <a:off x="566928" y="5943600"/>
            <a:ext cx="11073384" cy="731520"/>
          </a:xfrm>
          <a:prstGeom prst="roundRect">
            <a:avLst>
              <a:gd name="adj" fmla="val 1000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174" name="Dot"/>
          <p:cNvSpPr/>
          <p:nvPr/>
        </p:nvSpPr>
        <p:spPr>
          <a:xfrm>
            <a:off x="859536" y="6227064"/>
            <a:ext cx="164592" cy="164592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5" name="Text"/>
          <p:cNvSpPr/>
          <p:nvPr/>
        </p:nvSpPr>
        <p:spPr>
          <a:xfrm>
            <a:off x="1170432" y="6035040"/>
            <a:ext cx="10158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SVM and SVR scale quadratically, so one shared 30,000 row sample keeps every model comparable.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76" name="Text"/>
          <p:cNvSpPr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Seven checks and seven calls</a:t>
            </a:r>
          </a:p>
        </p:txBody>
      </p:sp>
      <p:sp>
        <p:nvSpPr>
          <p:cNvPr id="177" name="Dot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8" name="Text"/>
          <p:cNvSpPr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decision matters more than the method</a:t>
            </a:r>
          </a:p>
        </p:txBody>
      </p:sp>
      <p:sp>
        <p:nvSpPr>
          <p:cNvPr id="179" name="Text"/>
          <p:cNvSpPr/>
          <p:nvPr/>
        </p:nvSpPr>
        <p:spPr>
          <a:xfrm>
            <a:off x="1481328" y="14813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</a:t>
            </a:r>
          </a:p>
        </p:txBody>
      </p:sp>
      <p:sp>
        <p:nvSpPr>
          <p:cNvPr id="180" name="Text"/>
          <p:cNvSpPr/>
          <p:nvPr/>
        </p:nvSpPr>
        <p:spPr>
          <a:xfrm>
            <a:off x="4315968" y="1481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WE FOUND</a:t>
            </a:r>
          </a:p>
        </p:txBody>
      </p:sp>
      <p:sp>
        <p:nvSpPr>
          <p:cNvPr id="181" name="Text"/>
          <p:cNvSpPr/>
          <p:nvPr/>
        </p:nvSpPr>
        <p:spPr>
          <a:xfrm>
            <a:off x="8001000" y="14813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CALL</a:t>
            </a:r>
          </a:p>
        </p:txBody>
      </p:sp>
      <p:sp>
        <p:nvSpPr>
          <p:cNvPr id="182" name="Card"/>
          <p:cNvSpPr/>
          <p:nvPr/>
        </p:nvSpPr>
        <p:spPr>
          <a:xfrm>
            <a:off x="566928" y="1792224"/>
            <a:ext cx="11073384" cy="640080"/>
          </a:xfrm>
          <a:prstGeom prst="roundRect">
            <a:avLst>
              <a:gd name="adj" fmla="val 11429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183" name="Dot"/>
          <p:cNvSpPr/>
          <p:nvPr/>
        </p:nvSpPr>
        <p:spPr>
          <a:xfrm>
            <a:off x="822960" y="1920240"/>
            <a:ext cx="384048" cy="384048"/>
          </a:xfrm>
          <a:prstGeom prst="ellipse">
            <a:avLst/>
          </a:prstGeom>
          <a:solidFill>
            <a:srgbClr val="522C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4" name="Text"/>
          <p:cNvSpPr/>
          <p:nvPr/>
        </p:nvSpPr>
        <p:spPr>
          <a:xfrm>
            <a:off x="82296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300" b="1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</a:p>
        </p:txBody>
      </p:sp>
      <p:sp>
        <p:nvSpPr>
          <p:cNvPr id="185" name="Text"/>
          <p:cNvSpPr/>
          <p:nvPr/>
        </p:nvSpPr>
        <p:spPr>
          <a:xfrm>
            <a:off x="1481328" y="1810512"/>
            <a:ext cx="2743200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Missing values</a:t>
            </a:r>
          </a:p>
        </p:txBody>
      </p:sp>
      <p:sp>
        <p:nvSpPr>
          <p:cNvPr id="186" name="Text"/>
          <p:cNvSpPr/>
          <p:nvPr/>
        </p:nvSpPr>
        <p:spPr>
          <a:xfrm>
            <a:off x="4315968" y="1810512"/>
            <a:ext cx="3566160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1.8% of arrival fields</a:t>
            </a:r>
          </a:p>
        </p:txBody>
      </p:sp>
      <p:sp>
        <p:nvSpPr>
          <p:cNvPr id="187" name="Text"/>
          <p:cNvSpPr/>
          <p:nvPr/>
        </p:nvSpPr>
        <p:spPr>
          <a:xfrm>
            <a:off x="8001000" y="1810512"/>
            <a:ext cx="3383280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drop cancelled and diverted</a:t>
            </a:r>
          </a:p>
        </p:txBody>
      </p:sp>
      <p:sp>
        <p:nvSpPr>
          <p:cNvPr id="188" name="Card"/>
          <p:cNvSpPr/>
          <p:nvPr/>
        </p:nvSpPr>
        <p:spPr>
          <a:xfrm>
            <a:off x="566928" y="2505456"/>
            <a:ext cx="11073384" cy="640080"/>
          </a:xfrm>
          <a:prstGeom prst="roundRect">
            <a:avLst>
              <a:gd name="adj" fmla="val 11429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189" name="Dot"/>
          <p:cNvSpPr/>
          <p:nvPr/>
        </p:nvSpPr>
        <p:spPr>
          <a:xfrm>
            <a:off x="822960" y="2633472"/>
            <a:ext cx="384048" cy="384048"/>
          </a:xfrm>
          <a:prstGeom prst="ellipse">
            <a:avLst/>
          </a:prstGeom>
          <a:solidFill>
            <a:srgbClr val="9B78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0" name="Text"/>
          <p:cNvSpPr/>
          <p:nvPr/>
        </p:nvSpPr>
        <p:spPr>
          <a:xfrm>
            <a:off x="8229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300" b="1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</a:p>
        </p:txBody>
      </p:sp>
      <p:sp>
        <p:nvSpPr>
          <p:cNvPr id="191" name="Text"/>
          <p:cNvSpPr/>
          <p:nvPr/>
        </p:nvSpPr>
        <p:spPr>
          <a:xfrm>
            <a:off x="1481328" y="2523744"/>
            <a:ext cx="2743200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 rows</a:t>
            </a:r>
          </a:p>
        </p:txBody>
      </p:sp>
      <p:sp>
        <p:nvSpPr>
          <p:cNvPr id="192" name="Text"/>
          <p:cNvSpPr/>
          <p:nvPr/>
        </p:nvSpPr>
        <p:spPr>
          <a:xfrm>
            <a:off x="4315968" y="2523744"/>
            <a:ext cx="3566160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none found</a:t>
            </a:r>
          </a:p>
        </p:txBody>
      </p:sp>
      <p:sp>
        <p:nvSpPr>
          <p:cNvPr id="193" name="Text"/>
          <p:cNvSpPr/>
          <p:nvPr/>
        </p:nvSpPr>
        <p:spPr>
          <a:xfrm>
            <a:off x="8001000" y="2523744"/>
            <a:ext cx="3383280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to remove</a:t>
            </a:r>
          </a:p>
        </p:txBody>
      </p:sp>
      <p:sp>
        <p:nvSpPr>
          <p:cNvPr id="194" name="Card"/>
          <p:cNvSpPr/>
          <p:nvPr/>
        </p:nvSpPr>
        <p:spPr>
          <a:xfrm>
            <a:off x="566928" y="3218688"/>
            <a:ext cx="11073384" cy="640080"/>
          </a:xfrm>
          <a:prstGeom prst="roundRect">
            <a:avLst>
              <a:gd name="adj" fmla="val 11429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195" name="Dot"/>
          <p:cNvSpPr/>
          <p:nvPr/>
        </p:nvSpPr>
        <p:spPr>
          <a:xfrm>
            <a:off x="822960" y="3346704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6" name="Text"/>
          <p:cNvSpPr/>
          <p:nvPr/>
        </p:nvSpPr>
        <p:spPr>
          <a:xfrm>
            <a:off x="82296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300" b="1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</a:p>
        </p:txBody>
      </p:sp>
      <p:sp>
        <p:nvSpPr>
          <p:cNvPr id="197" name="Text"/>
          <p:cNvSpPr/>
          <p:nvPr/>
        </p:nvSpPr>
        <p:spPr>
          <a:xfrm>
            <a:off x="1481328" y="3236976"/>
            <a:ext cx="2743200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Wrong data type</a:t>
            </a:r>
          </a:p>
        </p:txBody>
      </p:sp>
      <p:sp>
        <p:nvSpPr>
          <p:cNvPr id="198" name="Text"/>
          <p:cNvSpPr/>
          <p:nvPr/>
        </p:nvSpPr>
        <p:spPr>
          <a:xfrm>
            <a:off x="4315968" y="3236976"/>
            <a:ext cx="3566160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CRSDepTime is a clock code</a:t>
            </a:r>
          </a:p>
        </p:txBody>
      </p:sp>
      <p:sp>
        <p:nvSpPr>
          <p:cNvPr id="199" name="Text"/>
          <p:cNvSpPr/>
          <p:nvPr/>
        </p:nvSpPr>
        <p:spPr>
          <a:xfrm>
            <a:off x="8001000" y="3236976"/>
            <a:ext cx="3383280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sine and cosine encoding</a:t>
            </a:r>
          </a:p>
        </p:txBody>
      </p:sp>
      <p:sp>
        <p:nvSpPr>
          <p:cNvPr id="200" name="Card"/>
          <p:cNvSpPr/>
          <p:nvPr/>
        </p:nvSpPr>
        <p:spPr>
          <a:xfrm>
            <a:off x="566928" y="3931920"/>
            <a:ext cx="11073384" cy="640080"/>
          </a:xfrm>
          <a:prstGeom prst="roundRect">
            <a:avLst>
              <a:gd name="adj" fmla="val 11429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201" name="Dot"/>
          <p:cNvSpPr/>
          <p:nvPr/>
        </p:nvSpPr>
        <p:spPr>
          <a:xfrm>
            <a:off x="822960" y="4059936"/>
            <a:ext cx="384048" cy="384048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2" name="Text"/>
          <p:cNvSpPr/>
          <p:nvPr/>
        </p:nvSpPr>
        <p:spPr>
          <a:xfrm>
            <a:off x="82296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300" b="1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</a:p>
        </p:txBody>
      </p:sp>
      <p:sp>
        <p:nvSpPr>
          <p:cNvPr id="203" name="Text"/>
          <p:cNvSpPr/>
          <p:nvPr/>
        </p:nvSpPr>
        <p:spPr>
          <a:xfrm>
            <a:off x="1481328" y="3950208"/>
            <a:ext cx="2743200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Invalid values</a:t>
            </a:r>
          </a:p>
        </p:txBody>
      </p:sp>
      <p:sp>
        <p:nvSpPr>
          <p:cNvPr id="204" name="Text"/>
          <p:cNvSpPr/>
          <p:nvPr/>
        </p:nvSpPr>
        <p:spPr>
          <a:xfrm>
            <a:off x="4315968" y="3950208"/>
            <a:ext cx="3566160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67 negative durations</a:t>
            </a:r>
          </a:p>
        </p:txBody>
      </p:sp>
      <p:sp>
        <p:nvSpPr>
          <p:cNvPr id="205" name="Text"/>
          <p:cNvSpPr/>
          <p:nvPr/>
        </p:nvSpPr>
        <p:spPr>
          <a:xfrm>
            <a:off x="8001000" y="3950208"/>
            <a:ext cx="3383280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drop, 67 out of 5.69M</a:t>
            </a:r>
          </a:p>
        </p:txBody>
      </p:sp>
      <p:sp>
        <p:nvSpPr>
          <p:cNvPr id="206" name="Card"/>
          <p:cNvSpPr/>
          <p:nvPr/>
        </p:nvSpPr>
        <p:spPr>
          <a:xfrm>
            <a:off x="566928" y="4645152"/>
            <a:ext cx="11073384" cy="640080"/>
          </a:xfrm>
          <a:prstGeom prst="roundRect">
            <a:avLst>
              <a:gd name="adj" fmla="val 11429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207" name="Dot"/>
          <p:cNvSpPr/>
          <p:nvPr/>
        </p:nvSpPr>
        <p:spPr>
          <a:xfrm>
            <a:off x="822960" y="4773168"/>
            <a:ext cx="384048" cy="384048"/>
          </a:xfrm>
          <a:prstGeom prst="ellipse">
            <a:avLst/>
          </a:prstGeom>
          <a:solidFill>
            <a:srgbClr val="522C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8" name="Text"/>
          <p:cNvSpPr/>
          <p:nvPr/>
        </p:nvSpPr>
        <p:spPr>
          <a:xfrm>
            <a:off x="82296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300" b="1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</a:p>
        </p:txBody>
      </p:sp>
      <p:sp>
        <p:nvSpPr>
          <p:cNvPr id="209" name="Text"/>
          <p:cNvSpPr/>
          <p:nvPr/>
        </p:nvSpPr>
        <p:spPr>
          <a:xfrm>
            <a:off x="1481328" y="4663440"/>
            <a:ext cx="2743200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Inconsistent categories</a:t>
            </a:r>
          </a:p>
        </p:txBody>
      </p:sp>
      <p:sp>
        <p:nvSpPr>
          <p:cNvPr id="210" name="Text"/>
          <p:cNvSpPr/>
          <p:nvPr/>
        </p:nvSpPr>
        <p:spPr>
          <a:xfrm>
            <a:off x="4315968" y="4663440"/>
            <a:ext cx="3566160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case or spelling variants</a:t>
            </a:r>
          </a:p>
        </p:txBody>
      </p:sp>
      <p:sp>
        <p:nvSpPr>
          <p:cNvPr id="211" name="Text"/>
          <p:cNvSpPr/>
          <p:nvPr/>
        </p:nvSpPr>
        <p:spPr>
          <a:xfrm>
            <a:off x="8001000" y="4663440"/>
            <a:ext cx="3383280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cleaning needed</a:t>
            </a:r>
          </a:p>
        </p:txBody>
      </p:sp>
      <p:sp>
        <p:nvSpPr>
          <p:cNvPr id="212" name="Card"/>
          <p:cNvSpPr/>
          <p:nvPr/>
        </p:nvSpPr>
        <p:spPr>
          <a:xfrm>
            <a:off x="566928" y="5358384"/>
            <a:ext cx="11073384" cy="640080"/>
          </a:xfrm>
          <a:prstGeom prst="roundRect">
            <a:avLst>
              <a:gd name="adj" fmla="val 11429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213" name="Dot"/>
          <p:cNvSpPr/>
          <p:nvPr/>
        </p:nvSpPr>
        <p:spPr>
          <a:xfrm>
            <a:off x="822960" y="5486400"/>
            <a:ext cx="384048" cy="384048"/>
          </a:xfrm>
          <a:prstGeom prst="ellipse">
            <a:avLst/>
          </a:prstGeom>
          <a:solidFill>
            <a:srgbClr val="9B78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4" name="Text"/>
          <p:cNvSpPr/>
          <p:nvPr/>
        </p:nvSpPr>
        <p:spPr>
          <a:xfrm>
            <a:off x="822960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300" b="1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</a:p>
        </p:txBody>
      </p:sp>
      <p:sp>
        <p:nvSpPr>
          <p:cNvPr id="215" name="Text"/>
          <p:cNvSpPr/>
          <p:nvPr/>
        </p:nvSpPr>
        <p:spPr>
          <a:xfrm>
            <a:off x="1481328" y="5376672"/>
            <a:ext cx="2743200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Outliers</a:t>
            </a:r>
          </a:p>
        </p:txBody>
      </p:sp>
      <p:sp>
        <p:nvSpPr>
          <p:cNvPr id="216" name="Text"/>
          <p:cNvSpPr/>
          <p:nvPr/>
        </p:nvSpPr>
        <p:spPr>
          <a:xfrm>
            <a:off x="4315968" y="5376672"/>
            <a:ext cx="3566160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to 13% flagged by IQR</a:t>
            </a:r>
          </a:p>
        </p:txBody>
      </p:sp>
      <p:sp>
        <p:nvSpPr>
          <p:cNvPr id="217" name="Text"/>
          <p:cNvSpPr/>
          <p:nvPr/>
        </p:nvSpPr>
        <p:spPr>
          <a:xfrm>
            <a:off x="8001000" y="5376672"/>
            <a:ext cx="3383280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keep, they are the target</a:t>
            </a:r>
          </a:p>
        </p:txBody>
      </p:sp>
      <p:sp>
        <p:nvSpPr>
          <p:cNvPr id="218" name="Card"/>
          <p:cNvSpPr/>
          <p:nvPr/>
        </p:nvSpPr>
        <p:spPr>
          <a:xfrm>
            <a:off x="566928" y="6071616"/>
            <a:ext cx="11073384" cy="640080"/>
          </a:xfrm>
          <a:prstGeom prst="roundRect">
            <a:avLst>
              <a:gd name="adj" fmla="val 11429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219" name="Dot"/>
          <p:cNvSpPr/>
          <p:nvPr/>
        </p:nvSpPr>
        <p:spPr>
          <a:xfrm>
            <a:off x="822960" y="6199632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0" name="Text"/>
          <p:cNvSpPr/>
          <p:nvPr/>
        </p:nvSpPr>
        <p:spPr>
          <a:xfrm>
            <a:off x="822960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300" b="1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</a:p>
        </p:txBody>
      </p:sp>
      <p:sp>
        <p:nvSpPr>
          <p:cNvPr id="221" name="Text"/>
          <p:cNvSpPr/>
          <p:nvPr/>
        </p:nvSpPr>
        <p:spPr>
          <a:xfrm>
            <a:off x="1481328" y="6089904"/>
            <a:ext cx="2743200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Class imbalance</a:t>
            </a:r>
          </a:p>
        </p:txBody>
      </p:sp>
      <p:sp>
        <p:nvSpPr>
          <p:cNvPr id="222" name="Text"/>
          <p:cNvSpPr/>
          <p:nvPr/>
        </p:nvSpPr>
        <p:spPr>
          <a:xfrm>
            <a:off x="4315968" y="6089904"/>
            <a:ext cx="3566160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80.5% on time, 19.5% late</a:t>
            </a:r>
          </a:p>
        </p:txBody>
      </p:sp>
      <p:sp>
        <p:nvSpPr>
          <p:cNvPr id="223" name="Text"/>
          <p:cNvSpPr/>
          <p:nvPr/>
        </p:nvSpPr>
        <p:spPr>
          <a:xfrm>
            <a:off x="8001000" y="6089904"/>
            <a:ext cx="3383280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class_weight balanced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24" name="Text"/>
          <p:cNvSpPr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missing, and why</a:t>
            </a:r>
          </a:p>
        </p:txBody>
      </p:sp>
      <p:sp>
        <p:nvSpPr>
          <p:cNvPr id="225" name="Dot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6" name="Text"/>
          <p:cNvSpPr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the flights that never landed normally</a:t>
            </a:r>
          </a:p>
        </p:txBody>
      </p:sp>
      <p:sp>
        <p:nvSpPr>
          <p:cNvPr id="227" name="Card"/>
          <p:cNvSpPr/>
          <p:nvPr/>
        </p:nvSpPr>
        <p:spPr>
          <a:xfrm>
            <a:off x="566928" y="1572768"/>
            <a:ext cx="5532120" cy="3749039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228" name="Picture 227" descr="plot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691407"/>
            <a:ext cx="5312664" cy="3511760"/>
          </a:xfrm>
          <a:prstGeom prst="rect">
            <a:avLst/>
          </a:prstGeom>
        </p:spPr>
      </p:pic>
      <p:sp>
        <p:nvSpPr>
          <p:cNvPr id="228" name="Card"/>
          <p:cNvSpPr/>
          <p:nvPr/>
        </p:nvSpPr>
        <p:spPr>
          <a:xfrm>
            <a:off x="6309360" y="1572768"/>
            <a:ext cx="5330952" cy="3749039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229" name="Picture 228" descr="plot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847003"/>
            <a:ext cx="5111496" cy="3200568"/>
          </a:xfrm>
          <a:prstGeom prst="rect">
            <a:avLst/>
          </a:prstGeom>
        </p:spPr>
      </p:pic>
      <p:sp>
        <p:nvSpPr>
          <p:cNvPr id="229" name="Text"/>
          <p:cNvSpPr/>
          <p:nvPr/>
        </p:nvSpPr>
        <p:spPr>
          <a:xfrm>
            <a:off x="566928" y="539496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gap sits in an arrival or departure field</a:t>
            </a:r>
          </a:p>
        </p:txBody>
      </p:sp>
      <p:sp>
        <p:nvSpPr>
          <p:cNvPr id="230" name="Text"/>
          <p:cNvSpPr/>
          <p:nvPr/>
        </p:nvSpPr>
        <p:spPr>
          <a:xfrm>
            <a:off x="6309360" y="539496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Cancelled and diverted flights carry no arrival delay</a:t>
            </a:r>
          </a:p>
        </p:txBody>
      </p:sp>
      <p:sp>
        <p:nvSpPr>
          <p:cNvPr id="231" name="Card"/>
          <p:cNvSpPr/>
          <p:nvPr/>
        </p:nvSpPr>
        <p:spPr>
          <a:xfrm>
            <a:off x="566928" y="5870448"/>
            <a:ext cx="11073384" cy="731520"/>
          </a:xfrm>
          <a:prstGeom prst="roundRect">
            <a:avLst>
              <a:gd name="adj" fmla="val 1000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232" name="Dot"/>
          <p:cNvSpPr/>
          <p:nvPr/>
        </p:nvSpPr>
        <p:spPr>
          <a:xfrm>
            <a:off x="859536" y="6153912"/>
            <a:ext cx="164592" cy="164592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3" name="Text"/>
          <p:cNvSpPr/>
          <p:nvPr/>
        </p:nvSpPr>
        <p:spPr>
          <a:xfrm>
            <a:off x="1170432" y="5961888"/>
            <a:ext cx="10158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Imputing an arrival delay for a flight that never arrived would invent data, so those rows are dropped.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34" name="Text"/>
          <p:cNvSpPr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Outliers are the phenomenon</a:t>
            </a:r>
          </a:p>
        </p:txBody>
      </p:sp>
      <p:sp>
        <p:nvSpPr>
          <p:cNvPr id="235" name="Dot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6" name="Text"/>
          <p:cNvSpPr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IQR rule flags 9 to 13% of the delay columns</a:t>
            </a:r>
          </a:p>
        </p:txBody>
      </p:sp>
      <p:sp>
        <p:nvSpPr>
          <p:cNvPr id="237" name="Card"/>
          <p:cNvSpPr/>
          <p:nvPr/>
        </p:nvSpPr>
        <p:spPr>
          <a:xfrm>
            <a:off x="566928" y="1572768"/>
            <a:ext cx="83210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238" name="Picture 237" descr="plot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791392"/>
            <a:ext cx="8101583" cy="2946030"/>
          </a:xfrm>
          <a:prstGeom prst="rect">
            <a:avLst/>
          </a:prstGeom>
        </p:spPr>
      </p:pic>
      <p:sp>
        <p:nvSpPr>
          <p:cNvPr id="238" name="Card"/>
          <p:cNvSpPr/>
          <p:nvPr/>
        </p:nvSpPr>
        <p:spPr>
          <a:xfrm>
            <a:off x="9006840" y="1572768"/>
            <a:ext cx="2633472" cy="3383280"/>
          </a:xfrm>
          <a:prstGeom prst="roundRect">
            <a:avLst>
              <a:gd name="adj" fmla="val 2778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239" name="Dot"/>
          <p:cNvSpPr/>
          <p:nvPr/>
        </p:nvSpPr>
        <p:spPr>
          <a:xfrm>
            <a:off x="9281160" y="1874519"/>
            <a:ext cx="137160" cy="137160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0" name="Text"/>
          <p:cNvSpPr/>
          <p:nvPr/>
        </p:nvSpPr>
        <p:spPr>
          <a:xfrm>
            <a:off x="9546336" y="1773936"/>
            <a:ext cx="18196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Skewness</a:t>
            </a:r>
          </a:p>
        </p:txBody>
      </p:sp>
      <p:sp>
        <p:nvSpPr>
          <p:cNvPr id="241" name="Text"/>
          <p:cNvSpPr/>
          <p:nvPr/>
        </p:nvSpPr>
        <p:spPr>
          <a:xfrm>
            <a:off x="9281160" y="2231136"/>
            <a:ext cx="208483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ArrDelay  8.46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DepDelay  9.56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TaxiOut  3.14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9.4% and 13.1% of rows flagged</a:t>
            </a:r>
          </a:p>
        </p:txBody>
      </p:sp>
      <p:sp>
        <p:nvSpPr>
          <p:cNvPr id="242" name="Card"/>
          <p:cNvSpPr/>
          <p:nvPr/>
        </p:nvSpPr>
        <p:spPr>
          <a:xfrm>
            <a:off x="566928" y="5138928"/>
            <a:ext cx="11073384" cy="786384"/>
          </a:xfrm>
          <a:prstGeom prst="roundRect">
            <a:avLst>
              <a:gd name="adj" fmla="val 9302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243" name="Dot"/>
          <p:cNvSpPr/>
          <p:nvPr/>
        </p:nvSpPr>
        <p:spPr>
          <a:xfrm>
            <a:off x="859536" y="5449824"/>
            <a:ext cx="164592" cy="164592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4" name="Text"/>
          <p:cNvSpPr/>
          <p:nvPr/>
        </p:nvSpPr>
        <p:spPr>
          <a:xfrm>
            <a:off x="1170432" y="5230368"/>
            <a:ext cx="10158984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Removing them would delete exactly what the project exists to predict, so all of them stay.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45" name="Text"/>
          <p:cNvSpPr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Imbalanced enough to matter</a:t>
            </a:r>
          </a:p>
        </p:txBody>
      </p:sp>
      <p:sp>
        <p:nvSpPr>
          <p:cNvPr id="246" name="Dot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7" name="Text"/>
          <p:cNvSpPr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Predicting on time for every flight already scores 80%</a:t>
            </a:r>
          </a:p>
        </p:txBody>
      </p:sp>
      <p:sp>
        <p:nvSpPr>
          <p:cNvPr id="248" name="Card"/>
          <p:cNvSpPr/>
          <p:nvPr/>
        </p:nvSpPr>
        <p:spPr>
          <a:xfrm>
            <a:off x="566928" y="1572768"/>
            <a:ext cx="6620256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249" name="Picture 248" descr="plot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92109"/>
            <a:ext cx="6400800" cy="1738757"/>
          </a:xfrm>
          <a:prstGeom prst="rect">
            <a:avLst/>
          </a:prstGeom>
        </p:spPr>
      </p:pic>
      <p:sp>
        <p:nvSpPr>
          <p:cNvPr id="249" name="Card"/>
          <p:cNvSpPr/>
          <p:nvPr/>
        </p:nvSpPr>
        <p:spPr>
          <a:xfrm>
            <a:off x="7406640" y="1572768"/>
            <a:ext cx="4233672" cy="2377440"/>
          </a:xfrm>
          <a:prstGeom prst="roundRect">
            <a:avLst>
              <a:gd name="adj" fmla="val 3077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250" name="Dot"/>
          <p:cNvSpPr/>
          <p:nvPr/>
        </p:nvSpPr>
        <p:spPr>
          <a:xfrm>
            <a:off x="7680960" y="1874519"/>
            <a:ext cx="137160" cy="137160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1" name="Text"/>
          <p:cNvSpPr/>
          <p:nvPr/>
        </p:nvSpPr>
        <p:spPr>
          <a:xfrm>
            <a:off x="7946136" y="1773936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 Accuracy is not the metric</a:t>
            </a:r>
          </a:p>
        </p:txBody>
      </p:sp>
      <p:sp>
        <p:nvSpPr>
          <p:cNvPr id="252" name="Text"/>
          <p:cNvSpPr/>
          <p:nvPr/>
        </p:nvSpPr>
        <p:spPr>
          <a:xfrm>
            <a:off x="7680960" y="2231136"/>
            <a:ext cx="36850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ROC-AUC is the headline, it needs no threshold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Precision, Recall and F1 sit next to it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class_weight balanced where supported</a:t>
            </a:r>
          </a:p>
        </p:txBody>
      </p:sp>
      <p:sp>
        <p:nvSpPr>
          <p:cNvPr id="253" name="Card"/>
          <p:cNvSpPr/>
          <p:nvPr/>
        </p:nvSpPr>
        <p:spPr>
          <a:xfrm>
            <a:off x="566928" y="4206240"/>
            <a:ext cx="3547872" cy="1225296"/>
          </a:xfrm>
          <a:prstGeom prst="roundRect">
            <a:avLst>
              <a:gd name="adj" fmla="val 597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254" name="Dot"/>
          <p:cNvSpPr/>
          <p:nvPr/>
        </p:nvSpPr>
        <p:spPr>
          <a:xfrm>
            <a:off x="3803904" y="4389120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5" name="Text"/>
          <p:cNvSpPr/>
          <p:nvPr/>
        </p:nvSpPr>
        <p:spPr>
          <a:xfrm>
            <a:off x="768096" y="4389120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80.5%</a:t>
            </a:r>
          </a:p>
        </p:txBody>
      </p:sp>
      <p:sp>
        <p:nvSpPr>
          <p:cNvPr id="256" name="Text"/>
          <p:cNvSpPr/>
          <p:nvPr/>
        </p:nvSpPr>
        <p:spPr>
          <a:xfrm>
            <a:off x="768096" y="4919472"/>
            <a:ext cx="3218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landed on time</a:t>
            </a:r>
          </a:p>
        </p:txBody>
      </p:sp>
      <p:sp>
        <p:nvSpPr>
          <p:cNvPr id="257" name="Card"/>
          <p:cNvSpPr/>
          <p:nvPr/>
        </p:nvSpPr>
        <p:spPr>
          <a:xfrm>
            <a:off x="4325112" y="4206240"/>
            <a:ext cx="3547872" cy="1225296"/>
          </a:xfrm>
          <a:prstGeom prst="roundRect">
            <a:avLst>
              <a:gd name="adj" fmla="val 597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258" name="Dot"/>
          <p:cNvSpPr/>
          <p:nvPr/>
        </p:nvSpPr>
        <p:spPr>
          <a:xfrm>
            <a:off x="7562088" y="4389120"/>
            <a:ext cx="146304" cy="146304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9" name="Text"/>
          <p:cNvSpPr/>
          <p:nvPr/>
        </p:nvSpPr>
        <p:spPr>
          <a:xfrm>
            <a:off x="4526280" y="4389120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19.5%</a:t>
            </a:r>
          </a:p>
        </p:txBody>
      </p:sp>
      <p:sp>
        <p:nvSpPr>
          <p:cNvPr id="260" name="Text"/>
          <p:cNvSpPr/>
          <p:nvPr/>
        </p:nvSpPr>
        <p:spPr>
          <a:xfrm>
            <a:off x="4526280" y="4919472"/>
            <a:ext cx="3218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landed 15 minutes late or more</a:t>
            </a:r>
          </a:p>
        </p:txBody>
      </p:sp>
      <p:sp>
        <p:nvSpPr>
          <p:cNvPr id="261" name="Card"/>
          <p:cNvSpPr/>
          <p:nvPr/>
        </p:nvSpPr>
        <p:spPr>
          <a:xfrm>
            <a:off x="8083296" y="4206240"/>
            <a:ext cx="3557016" cy="1225296"/>
          </a:xfrm>
          <a:prstGeom prst="roundRect">
            <a:avLst>
              <a:gd name="adj" fmla="val 597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262" name="Dot"/>
          <p:cNvSpPr/>
          <p:nvPr/>
        </p:nvSpPr>
        <p:spPr>
          <a:xfrm>
            <a:off x="11329416" y="4389120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3" name="Text"/>
          <p:cNvSpPr/>
          <p:nvPr/>
        </p:nvSpPr>
        <p:spPr>
          <a:xfrm>
            <a:off x="8284464" y="4389120"/>
            <a:ext cx="3008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0.821</a:t>
            </a:r>
          </a:p>
        </p:txBody>
      </p:sp>
      <p:sp>
        <p:nvSpPr>
          <p:cNvPr id="264" name="Text"/>
          <p:cNvSpPr/>
          <p:nvPr/>
        </p:nvSpPr>
        <p:spPr>
          <a:xfrm>
            <a:off x="8284464" y="4919472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F1 on the delayed class</a:t>
            </a:r>
          </a:p>
        </p:txBody>
      </p:sp>
      <p:sp>
        <p:nvSpPr>
          <p:cNvPr id="265" name="Card"/>
          <p:cNvSpPr/>
          <p:nvPr/>
        </p:nvSpPr>
        <p:spPr>
          <a:xfrm>
            <a:off x="566928" y="5669280"/>
            <a:ext cx="11073384" cy="786384"/>
          </a:xfrm>
          <a:prstGeom prst="roundRect">
            <a:avLst>
              <a:gd name="adj" fmla="val 9302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266" name="Dot"/>
          <p:cNvSpPr/>
          <p:nvPr/>
        </p:nvSpPr>
        <p:spPr>
          <a:xfrm>
            <a:off x="859536" y="5980176"/>
            <a:ext cx="164592" cy="164592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7" name="Text"/>
          <p:cNvSpPr/>
          <p:nvPr/>
        </p:nvSpPr>
        <p:spPr>
          <a:xfrm>
            <a:off x="1170432" y="5760720"/>
            <a:ext cx="10158984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extreme, but enough that a model doing nothing at all would still look 80% right.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68" name="Text"/>
          <p:cNvSpPr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flights run late</a:t>
            </a:r>
          </a:p>
        </p:txBody>
      </p:sp>
      <p:sp>
        <p:nvSpPr>
          <p:cNvPr id="269" name="Dot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0" name="Text"/>
          <p:cNvSpPr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Season and weekday both carry real signal</a:t>
            </a:r>
          </a:p>
        </p:txBody>
      </p:sp>
      <p:sp>
        <p:nvSpPr>
          <p:cNvPr id="271" name="Card"/>
          <p:cNvSpPr/>
          <p:nvPr/>
        </p:nvSpPr>
        <p:spPr>
          <a:xfrm>
            <a:off x="566928" y="1572768"/>
            <a:ext cx="5532120" cy="3749039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272" name="Picture 271" descr="plot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916520"/>
            <a:ext cx="5312664" cy="3061535"/>
          </a:xfrm>
          <a:prstGeom prst="rect">
            <a:avLst/>
          </a:prstGeom>
        </p:spPr>
      </p:pic>
      <p:sp>
        <p:nvSpPr>
          <p:cNvPr id="272" name="Card"/>
          <p:cNvSpPr/>
          <p:nvPr/>
        </p:nvSpPr>
        <p:spPr>
          <a:xfrm>
            <a:off x="6309360" y="1572768"/>
            <a:ext cx="5330952" cy="3749039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273" name="Picture 272" descr="plot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187933"/>
            <a:ext cx="5111496" cy="2518708"/>
          </a:xfrm>
          <a:prstGeom prst="rect">
            <a:avLst/>
          </a:prstGeom>
        </p:spPr>
      </p:pic>
      <p:sp>
        <p:nvSpPr>
          <p:cNvPr id="273" name="Text"/>
          <p:cNvSpPr/>
          <p:nvPr/>
        </p:nvSpPr>
        <p:spPr>
          <a:xfrm>
            <a:off x="566928" y="539496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Friday is worst, Saturday is calmest</a:t>
            </a:r>
          </a:p>
        </p:txBody>
      </p:sp>
      <p:sp>
        <p:nvSpPr>
          <p:cNvPr id="274" name="Text"/>
          <p:cNvSpPr/>
          <p:nvPr/>
        </p:nvSpPr>
        <p:spPr>
          <a:xfrm>
            <a:off x="6309360" y="539496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Summer is roughly 3x worse than autumn</a:t>
            </a:r>
          </a:p>
        </p:txBody>
      </p:sp>
      <p:sp>
        <p:nvSpPr>
          <p:cNvPr id="275" name="Card"/>
          <p:cNvSpPr/>
          <p:nvPr/>
        </p:nvSpPr>
        <p:spPr>
          <a:xfrm>
            <a:off x="566928" y="5870448"/>
            <a:ext cx="11073384" cy="731520"/>
          </a:xfrm>
          <a:prstGeom prst="roundRect">
            <a:avLst>
              <a:gd name="adj" fmla="val 1000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276" name="Dot"/>
          <p:cNvSpPr/>
          <p:nvPr/>
        </p:nvSpPr>
        <p:spPr>
          <a:xfrm>
            <a:off x="859536" y="6153912"/>
            <a:ext cx="164592" cy="164592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7" name="Text"/>
          <p:cNvSpPr/>
          <p:nvPr/>
        </p:nvSpPr>
        <p:spPr>
          <a:xfrm>
            <a:off x="1170432" y="5961888"/>
            <a:ext cx="10158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August averages 11.5 minutes against 2.8 in January. Thunderstorm season shows up directly in the target.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78" name="Text"/>
          <p:cNvSpPr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actually predicts delay</a:t>
            </a:r>
          </a:p>
        </p:txBody>
      </p:sp>
      <p:sp>
        <p:nvSpPr>
          <p:cNvPr id="279" name="Dot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0" name="Text"/>
          <p:cNvSpPr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feature carries almost the whole problem</a:t>
            </a:r>
          </a:p>
        </p:txBody>
      </p:sp>
      <p:sp>
        <p:nvSpPr>
          <p:cNvPr id="281" name="Card"/>
          <p:cNvSpPr/>
          <p:nvPr/>
        </p:nvSpPr>
        <p:spPr>
          <a:xfrm>
            <a:off x="566928" y="1572768"/>
            <a:ext cx="11073384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282" name="Picture 281" descr="plot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726851"/>
            <a:ext cx="10853928" cy="2800792"/>
          </a:xfrm>
          <a:prstGeom prst="rect">
            <a:avLst/>
          </a:prstGeom>
        </p:spPr>
      </p:pic>
      <p:sp>
        <p:nvSpPr>
          <p:cNvPr id="282" name="Card"/>
          <p:cNvSpPr/>
          <p:nvPr/>
        </p:nvSpPr>
        <p:spPr>
          <a:xfrm>
            <a:off x="566928" y="4846320"/>
            <a:ext cx="3547872" cy="1188720"/>
          </a:xfrm>
          <a:prstGeom prst="roundRect">
            <a:avLst>
              <a:gd name="adj" fmla="val 6154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283" name="Dot"/>
          <p:cNvSpPr/>
          <p:nvPr/>
        </p:nvSpPr>
        <p:spPr>
          <a:xfrm>
            <a:off x="3803904" y="5029200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4" name="Text"/>
          <p:cNvSpPr/>
          <p:nvPr/>
        </p:nvSpPr>
        <p:spPr>
          <a:xfrm>
            <a:off x="768096" y="5029200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0.96</a:t>
            </a:r>
          </a:p>
        </p:txBody>
      </p:sp>
      <p:sp>
        <p:nvSpPr>
          <p:cNvPr id="285" name="Text"/>
          <p:cNvSpPr/>
          <p:nvPr/>
        </p:nvSpPr>
        <p:spPr>
          <a:xfrm>
            <a:off x="768096" y="5559552"/>
            <a:ext cx="3218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DepDelay to ArrDelay</a:t>
            </a:r>
          </a:p>
        </p:txBody>
      </p:sp>
      <p:sp>
        <p:nvSpPr>
          <p:cNvPr id="286" name="Card"/>
          <p:cNvSpPr/>
          <p:nvPr/>
        </p:nvSpPr>
        <p:spPr>
          <a:xfrm>
            <a:off x="4325112" y="4846320"/>
            <a:ext cx="3547872" cy="1188720"/>
          </a:xfrm>
          <a:prstGeom prst="roundRect">
            <a:avLst>
              <a:gd name="adj" fmla="val 6154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287" name="Dot"/>
          <p:cNvSpPr/>
          <p:nvPr/>
        </p:nvSpPr>
        <p:spPr>
          <a:xfrm>
            <a:off x="7562088" y="5029200"/>
            <a:ext cx="146304" cy="146304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8" name="Text"/>
          <p:cNvSpPr/>
          <p:nvPr/>
        </p:nvSpPr>
        <p:spPr>
          <a:xfrm>
            <a:off x="4526280" y="5029200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0.22</a:t>
            </a:r>
          </a:p>
        </p:txBody>
      </p:sp>
      <p:sp>
        <p:nvSpPr>
          <p:cNvPr id="289" name="Text"/>
          <p:cNvSpPr/>
          <p:nvPr/>
        </p:nvSpPr>
        <p:spPr>
          <a:xfrm>
            <a:off x="4526280" y="5559552"/>
            <a:ext cx="3218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TaxiOut to ArrDelay</a:t>
            </a:r>
          </a:p>
        </p:txBody>
      </p:sp>
      <p:sp>
        <p:nvSpPr>
          <p:cNvPr id="290" name="Card"/>
          <p:cNvSpPr/>
          <p:nvPr/>
        </p:nvSpPr>
        <p:spPr>
          <a:xfrm>
            <a:off x="8083296" y="4846320"/>
            <a:ext cx="3557016" cy="1188720"/>
          </a:xfrm>
          <a:prstGeom prst="roundRect">
            <a:avLst>
              <a:gd name="adj" fmla="val 6154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291" name="Dot"/>
          <p:cNvSpPr/>
          <p:nvPr/>
        </p:nvSpPr>
        <p:spPr>
          <a:xfrm>
            <a:off x="11329416" y="5029200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2" name="Text"/>
          <p:cNvSpPr/>
          <p:nvPr/>
        </p:nvSpPr>
        <p:spPr>
          <a:xfrm>
            <a:off x="8284464" y="5029200"/>
            <a:ext cx="3008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-0.02</a:t>
            </a:r>
          </a:p>
        </p:txBody>
      </p:sp>
      <p:sp>
        <p:nvSpPr>
          <p:cNvPr id="293" name="Text"/>
          <p:cNvSpPr/>
          <p:nvPr/>
        </p:nvSpPr>
        <p:spPr>
          <a:xfrm>
            <a:off x="8284464" y="5559552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Distance to ArrDelay</a:t>
            </a:r>
          </a:p>
        </p:txBody>
      </p:sp>
      <p:sp>
        <p:nvSpPr>
          <p:cNvPr id="294" name="Card"/>
          <p:cNvSpPr/>
          <p:nvPr/>
        </p:nvSpPr>
        <p:spPr>
          <a:xfrm>
            <a:off x="566928" y="6181344"/>
            <a:ext cx="11073384" cy="566928"/>
          </a:xfrm>
          <a:prstGeom prst="roundRect">
            <a:avLst>
              <a:gd name="adj" fmla="val 12903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295" name="Dot"/>
          <p:cNvSpPr/>
          <p:nvPr/>
        </p:nvSpPr>
        <p:spPr>
          <a:xfrm>
            <a:off x="859536" y="6382512"/>
            <a:ext cx="164592" cy="164592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6" name="Text"/>
          <p:cNvSpPr/>
          <p:nvPr/>
        </p:nvSpPr>
        <p:spPr>
          <a:xfrm>
            <a:off x="1170432" y="6272783"/>
            <a:ext cx="10158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Delay compounds through the day, from -3 minutes at 5am to +12 by 6pm.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97" name="Text"/>
          <p:cNvSpPr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Carriers are not equal</a:t>
            </a:r>
          </a:p>
        </p:txBody>
      </p:sp>
      <p:sp>
        <p:nvSpPr>
          <p:cNvPr id="298" name="Dot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9" name="Text"/>
          <p:cNvSpPr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scale, very different outcomes</a:t>
            </a:r>
          </a:p>
        </p:txBody>
      </p:sp>
      <p:sp>
        <p:nvSpPr>
          <p:cNvPr id="300" name="Card"/>
          <p:cNvSpPr/>
          <p:nvPr/>
        </p:nvSpPr>
        <p:spPr>
          <a:xfrm>
            <a:off x="566928" y="1572768"/>
            <a:ext cx="55321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301" name="Picture 300" descr="plot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782847"/>
            <a:ext cx="5312664" cy="3511760"/>
          </a:xfrm>
          <a:prstGeom prst="rect">
            <a:avLst/>
          </a:prstGeom>
        </p:spPr>
      </p:pic>
      <p:sp>
        <p:nvSpPr>
          <p:cNvPr id="301" name="Card"/>
          <p:cNvSpPr/>
          <p:nvPr/>
        </p:nvSpPr>
        <p:spPr>
          <a:xfrm>
            <a:off x="6309360" y="1572768"/>
            <a:ext cx="5330952" cy="3931920"/>
          </a:xfrm>
          <a:prstGeom prst="roundRect">
            <a:avLst>
              <a:gd name="adj" fmla="val 186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302" name="Dot"/>
          <p:cNvSpPr/>
          <p:nvPr/>
        </p:nvSpPr>
        <p:spPr>
          <a:xfrm>
            <a:off x="6583680" y="1874519"/>
            <a:ext cx="137160" cy="137160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3" name="Text"/>
          <p:cNvSpPr/>
          <p:nvPr/>
        </p:nvSpPr>
        <p:spPr>
          <a:xfrm>
            <a:off x="6848856" y="1773936"/>
            <a:ext cx="4517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Delay rate, ten largest carriers</a:t>
            </a:r>
          </a:p>
        </p:txBody>
      </p:sp>
      <p:sp>
        <p:nvSpPr>
          <p:cNvPr id="304" name="Text"/>
          <p:cNvSpPr/>
          <p:nvPr/>
        </p:nvSpPr>
        <p:spPr>
          <a:xfrm>
            <a:off x="6583680" y="2231136"/>
            <a:ext cx="4782312" cy="3063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JetBlue  27.3%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ExpressJet  21.3%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American  20.7%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Southwest  19.6%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United  19.5%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Alaska  15.8%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Delta  12.5%</a:t>
            </a:r>
          </a:p>
        </p:txBody>
      </p:sp>
      <p:sp>
        <p:nvSpPr>
          <p:cNvPr id="305" name="Card"/>
          <p:cNvSpPr/>
          <p:nvPr/>
        </p:nvSpPr>
        <p:spPr>
          <a:xfrm>
            <a:off x="566928" y="5669280"/>
            <a:ext cx="11073384" cy="786384"/>
          </a:xfrm>
          <a:prstGeom prst="roundRect">
            <a:avLst>
              <a:gd name="adj" fmla="val 9302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306" name="Dot"/>
          <p:cNvSpPr/>
          <p:nvPr/>
        </p:nvSpPr>
        <p:spPr>
          <a:xfrm>
            <a:off x="859536" y="5980176"/>
            <a:ext cx="164592" cy="164592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7" name="Text"/>
          <p:cNvSpPr/>
          <p:nvPr/>
        </p:nvSpPr>
        <p:spPr>
          <a:xfrm>
            <a:off x="1170432" y="5760720"/>
            <a:ext cx="10158984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JetBlue is delayed more than twice as often as Delta, so Airline earns its place as a feature.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308" name="Text"/>
          <p:cNvSpPr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leakage boundary</a:t>
            </a:r>
          </a:p>
        </p:txBody>
      </p:sp>
      <p:sp>
        <p:nvSpPr>
          <p:cNvPr id="309" name="Dot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0" name="Text"/>
          <p:cNvSpPr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one decision that sets the ceiling</a:t>
            </a:r>
          </a:p>
        </p:txBody>
      </p:sp>
      <p:sp>
        <p:nvSpPr>
          <p:cNvPr id="311" name="Card"/>
          <p:cNvSpPr/>
          <p:nvPr/>
        </p:nvSpPr>
        <p:spPr>
          <a:xfrm>
            <a:off x="566928" y="1572768"/>
            <a:ext cx="5440680" cy="2606040"/>
          </a:xfrm>
          <a:prstGeom prst="roundRect">
            <a:avLst>
              <a:gd name="adj" fmla="val 2807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312" name="Dot"/>
          <p:cNvSpPr/>
          <p:nvPr/>
        </p:nvSpPr>
        <p:spPr>
          <a:xfrm>
            <a:off x="841247" y="1874519"/>
            <a:ext cx="137160" cy="137160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3" name="Text"/>
          <p:cNvSpPr/>
          <p:nvPr/>
        </p:nvSpPr>
        <p:spPr>
          <a:xfrm>
            <a:off x="1106424" y="1773936"/>
            <a:ext cx="4626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Legal at departure</a:t>
            </a:r>
          </a:p>
        </p:txBody>
      </p:sp>
      <p:sp>
        <p:nvSpPr>
          <p:cNvPr id="314" name="Text"/>
          <p:cNvSpPr/>
          <p:nvPr/>
        </p:nvSpPr>
        <p:spPr>
          <a:xfrm>
            <a:off x="841247" y="2231136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DepDelay, how late it left the gate</a:t>
            </a: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TaxiOut, time from gate to wheels up</a:t>
            </a: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CRSElapsedTime and the schedule</a:t>
            </a: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Airline, Origin, Dest, Month, DayOfWeek</a:t>
            </a:r>
          </a:p>
        </p:txBody>
      </p:sp>
      <p:sp>
        <p:nvSpPr>
          <p:cNvPr id="315" name="Card"/>
          <p:cNvSpPr/>
          <p:nvPr/>
        </p:nvSpPr>
        <p:spPr>
          <a:xfrm>
            <a:off x="6199632" y="1572768"/>
            <a:ext cx="5440680" cy="2606040"/>
          </a:xfrm>
          <a:prstGeom prst="roundRect">
            <a:avLst>
              <a:gd name="adj" fmla="val 2807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316" name="Dot"/>
          <p:cNvSpPr/>
          <p:nvPr/>
        </p:nvSpPr>
        <p:spPr>
          <a:xfrm>
            <a:off x="6473952" y="1874519"/>
            <a:ext cx="137160" cy="137160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7" name="Text"/>
          <p:cNvSpPr/>
          <p:nvPr/>
        </p:nvSpPr>
        <p:spPr>
          <a:xfrm>
            <a:off x="6739128" y="1773936"/>
            <a:ext cx="4626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Banned, known only after landing</a:t>
            </a:r>
          </a:p>
        </p:txBody>
      </p:sp>
      <p:sp>
        <p:nvSpPr>
          <p:cNvPr id="318" name="Text"/>
          <p:cNvSpPr/>
          <p:nvPr/>
        </p:nvSpPr>
        <p:spPr>
          <a:xfrm>
            <a:off x="6473952" y="2231136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ArrTime, WheelsOn, TaxiIn</a:t>
            </a: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ActualElapsedTime, AirTime</a:t>
            </a: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ArrDelayMinutes, ArrivalDelayGroups</a:t>
            </a: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DivAirportLandings</a:t>
            </a:r>
          </a:p>
        </p:txBody>
      </p:sp>
      <p:sp>
        <p:nvSpPr>
          <p:cNvPr id="319" name="Card"/>
          <p:cNvSpPr/>
          <p:nvPr/>
        </p:nvSpPr>
        <p:spPr>
          <a:xfrm>
            <a:off x="566928" y="4361688"/>
            <a:ext cx="11073384" cy="1188720"/>
          </a:xfrm>
          <a:prstGeom prst="roundRect">
            <a:avLst>
              <a:gd name="adj" fmla="val 6154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320" name="Dot"/>
          <p:cNvSpPr/>
          <p:nvPr/>
        </p:nvSpPr>
        <p:spPr>
          <a:xfrm>
            <a:off x="841247" y="4663440"/>
            <a:ext cx="137160" cy="137160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1" name="Text"/>
          <p:cNvSpPr/>
          <p:nvPr/>
        </p:nvSpPr>
        <p:spPr>
          <a:xfrm>
            <a:off x="1106424" y="4562855"/>
            <a:ext cx="102595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Enforced in code, not by intention</a:t>
            </a:r>
          </a:p>
        </p:txBody>
      </p:sp>
      <p:sp>
        <p:nvSpPr>
          <p:cNvPr id="322" name="Text"/>
          <p:cNvSpPr/>
          <p:nvPr/>
        </p:nvSpPr>
        <p:spPr>
          <a:xfrm>
            <a:off x="841247" y="5020055"/>
            <a:ext cx="1052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feature list is asserted against a banned list before any model is fitted, and the split happens before any target dependent statistic is computed.</a:t>
            </a:r>
          </a:p>
        </p:txBody>
      </p:sp>
      <p:sp>
        <p:nvSpPr>
          <p:cNvPr id="323" name="Card"/>
          <p:cNvSpPr/>
          <p:nvPr/>
        </p:nvSpPr>
        <p:spPr>
          <a:xfrm>
            <a:off x="566928" y="5760720"/>
            <a:ext cx="11073384" cy="731520"/>
          </a:xfrm>
          <a:prstGeom prst="roundRect">
            <a:avLst>
              <a:gd name="adj" fmla="val 1000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324" name="Dot"/>
          <p:cNvSpPr/>
          <p:nvPr/>
        </p:nvSpPr>
        <p:spPr>
          <a:xfrm>
            <a:off x="859536" y="6044184"/>
            <a:ext cx="164592" cy="164592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5" name="Text"/>
          <p:cNvSpPr/>
          <p:nvPr/>
        </p:nvSpPr>
        <p:spPr>
          <a:xfrm>
            <a:off x="1170432" y="5852159"/>
            <a:ext cx="10158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this boundary to before departure and the same data tops out near 0.70.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326" name="Text"/>
          <p:cNvSpPr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Twelve models, two problems</a:t>
            </a:r>
          </a:p>
        </p:txBody>
      </p:sp>
      <p:sp>
        <p:nvSpPr>
          <p:cNvPr id="327" name="Dot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8" name="Text"/>
          <p:cNvSpPr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algorithms per target on one shared split</a:t>
            </a:r>
          </a:p>
        </p:txBody>
      </p:sp>
      <p:sp>
        <p:nvSpPr>
          <p:cNvPr id="329" name="Card"/>
          <p:cNvSpPr/>
          <p:nvPr/>
        </p:nvSpPr>
        <p:spPr>
          <a:xfrm>
            <a:off x="566928" y="1572768"/>
            <a:ext cx="5532120" cy="3749039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330" name="Picture 329" descr="plot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691407"/>
            <a:ext cx="5312664" cy="3511760"/>
          </a:xfrm>
          <a:prstGeom prst="rect">
            <a:avLst/>
          </a:prstGeom>
        </p:spPr>
      </p:pic>
      <p:sp>
        <p:nvSpPr>
          <p:cNvPr id="330" name="Card"/>
          <p:cNvSpPr/>
          <p:nvPr/>
        </p:nvSpPr>
        <p:spPr>
          <a:xfrm>
            <a:off x="6309360" y="1572768"/>
            <a:ext cx="5330952" cy="3749039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331" name="Picture 330" descr="plot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760753"/>
            <a:ext cx="5111496" cy="3373068"/>
          </a:xfrm>
          <a:prstGeom prst="rect">
            <a:avLst/>
          </a:prstGeom>
        </p:spPr>
      </p:pic>
      <p:sp>
        <p:nvSpPr>
          <p:cNvPr id="331" name="Text"/>
          <p:cNvSpPr/>
          <p:nvPr/>
        </p:nvSpPr>
        <p:spPr>
          <a:xfrm>
            <a:off x="566928" y="539496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Logistic Regression leads on test ROC-AUC</a:t>
            </a:r>
          </a:p>
        </p:txBody>
      </p:sp>
      <p:sp>
        <p:nvSpPr>
          <p:cNvPr id="332" name="Text"/>
          <p:cNvSpPr/>
          <p:nvPr/>
        </p:nvSpPr>
        <p:spPr>
          <a:xfrm>
            <a:off x="6309360" y="539496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Linear Regression leads on test R2</a:t>
            </a:r>
          </a:p>
        </p:txBody>
      </p:sp>
      <p:sp>
        <p:nvSpPr>
          <p:cNvPr id="333" name="Card"/>
          <p:cNvSpPr/>
          <p:nvPr/>
        </p:nvSpPr>
        <p:spPr>
          <a:xfrm>
            <a:off x="566928" y="5870448"/>
            <a:ext cx="11073384" cy="731520"/>
          </a:xfrm>
          <a:prstGeom prst="roundRect">
            <a:avLst>
              <a:gd name="adj" fmla="val 1000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334" name="Dot"/>
          <p:cNvSpPr/>
          <p:nvPr/>
        </p:nvSpPr>
        <p:spPr>
          <a:xfrm>
            <a:off x="859536" y="6153912"/>
            <a:ext cx="164592" cy="164592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5" name="Text"/>
          <p:cNvSpPr/>
          <p:nvPr/>
        </p:nvSpPr>
        <p:spPr>
          <a:xfrm>
            <a:off x="1170432" y="5961888"/>
            <a:ext cx="10158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Logistic 0.9649 against XGBoost 0.9631. Linear Regression beats every complex model on regression outright.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336" name="Text"/>
          <p:cNvSpPr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Nobody badly overfit</a:t>
            </a:r>
          </a:p>
        </p:txBody>
      </p:sp>
      <p:sp>
        <p:nvSpPr>
          <p:cNvPr id="337" name="Dot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8" name="Text"/>
          <p:cNvSpPr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 AUC minus validation AUC</a:t>
            </a:r>
          </a:p>
        </p:txBody>
      </p:sp>
      <p:sp>
        <p:nvSpPr>
          <p:cNvPr id="339" name="Card"/>
          <p:cNvSpPr/>
          <p:nvPr/>
        </p:nvSpPr>
        <p:spPr>
          <a:xfrm>
            <a:off x="566928" y="1572768"/>
            <a:ext cx="69494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340" name="Picture 339" descr="plot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682496"/>
            <a:ext cx="6729983" cy="3803904"/>
          </a:xfrm>
          <a:prstGeom prst="rect">
            <a:avLst/>
          </a:prstGeom>
        </p:spPr>
      </p:pic>
      <p:sp>
        <p:nvSpPr>
          <p:cNvPr id="340" name="Card"/>
          <p:cNvSpPr/>
          <p:nvPr/>
        </p:nvSpPr>
        <p:spPr>
          <a:xfrm>
            <a:off x="7726679" y="1572768"/>
            <a:ext cx="3913632" cy="4023360"/>
          </a:xfrm>
          <a:prstGeom prst="roundRect">
            <a:avLst>
              <a:gd name="adj" fmla="val 1869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341" name="Dot"/>
          <p:cNvSpPr/>
          <p:nvPr/>
        </p:nvSpPr>
        <p:spPr>
          <a:xfrm>
            <a:off x="8001000" y="1874519"/>
            <a:ext cx="137160" cy="137160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2" name="Text"/>
          <p:cNvSpPr/>
          <p:nvPr/>
        </p:nvSpPr>
        <p:spPr>
          <a:xfrm>
            <a:off x="8266175" y="1773936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gap, model by model</a:t>
            </a:r>
          </a:p>
        </p:txBody>
      </p:sp>
      <p:sp>
        <p:nvSpPr>
          <p:cNvPr id="343" name="Text"/>
          <p:cNvSpPr/>
          <p:nvPr/>
        </p:nvSpPr>
        <p:spPr>
          <a:xfrm>
            <a:off x="8001000" y="2231136"/>
            <a:ext cx="33649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Logistic  0.011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 Tree  0.022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Random Forest  0.025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SVM  0.030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XGBoost  0.036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KNN  0.043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 0.02 generalises well, over 0.05 is substantial</a:t>
            </a:r>
          </a:p>
        </p:txBody>
      </p:sp>
      <p:sp>
        <p:nvSpPr>
          <p:cNvPr id="344" name="Card"/>
          <p:cNvSpPr/>
          <p:nvPr/>
        </p:nvSpPr>
        <p:spPr>
          <a:xfrm>
            <a:off x="566928" y="5760720"/>
            <a:ext cx="11073384" cy="731520"/>
          </a:xfrm>
          <a:prstGeom prst="roundRect">
            <a:avLst>
              <a:gd name="adj" fmla="val 1000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345" name="Dot"/>
          <p:cNvSpPr/>
          <p:nvPr/>
        </p:nvSpPr>
        <p:spPr>
          <a:xfrm>
            <a:off x="859536" y="6044184"/>
            <a:ext cx="164592" cy="164592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6" name="Text"/>
          <p:cNvSpPr/>
          <p:nvPr/>
        </p:nvSpPr>
        <p:spPr>
          <a:xfrm>
            <a:off x="1170432" y="5852159"/>
            <a:ext cx="10158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model is past 0.05 at its chosen settings, but XGBoost and SVM are the two to watch.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347" name="Text"/>
          <p:cNvSpPr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Complexity has a peak</a:t>
            </a:r>
          </a:p>
        </p:txBody>
      </p:sp>
      <p:sp>
        <p:nvSpPr>
          <p:cNvPr id="348" name="Dot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9" name="Text"/>
          <p:cNvSpPr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rises then falls while training keeps climbing</a:t>
            </a:r>
          </a:p>
        </p:txBody>
      </p:sp>
      <p:sp>
        <p:nvSpPr>
          <p:cNvPr id="350" name="Card"/>
          <p:cNvSpPr/>
          <p:nvPr/>
        </p:nvSpPr>
        <p:spPr>
          <a:xfrm>
            <a:off x="566928" y="1572768"/>
            <a:ext cx="5440680" cy="3749039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351" name="Picture 350" descr="plot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721629"/>
            <a:ext cx="5221224" cy="3451317"/>
          </a:xfrm>
          <a:prstGeom prst="rect">
            <a:avLst/>
          </a:prstGeom>
        </p:spPr>
      </p:pic>
      <p:sp>
        <p:nvSpPr>
          <p:cNvPr id="351" name="Card"/>
          <p:cNvSpPr/>
          <p:nvPr/>
        </p:nvSpPr>
        <p:spPr>
          <a:xfrm>
            <a:off x="6199632" y="1572768"/>
            <a:ext cx="5440680" cy="3749039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352" name="Picture 351" descr="plot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21629"/>
            <a:ext cx="5221224" cy="3451317"/>
          </a:xfrm>
          <a:prstGeom prst="rect">
            <a:avLst/>
          </a:prstGeom>
        </p:spPr>
      </p:pic>
      <p:sp>
        <p:nvSpPr>
          <p:cNvPr id="352" name="Text"/>
          <p:cNvSpPr/>
          <p:nvPr/>
        </p:nvSpPr>
        <p:spPr>
          <a:xfrm>
            <a:off x="566928" y="53949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KNN: k=1 memorises, gap 0.293. Chosen k=50</a:t>
            </a:r>
          </a:p>
        </p:txBody>
      </p:sp>
      <p:sp>
        <p:nvSpPr>
          <p:cNvPr id="353" name="Text"/>
          <p:cNvSpPr/>
          <p:nvPr/>
        </p:nvSpPr>
        <p:spPr>
          <a:xfrm>
            <a:off x="6199632" y="53949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 Tree: validation peaks at depth 4. Chosen 6</a:t>
            </a:r>
          </a:p>
        </p:txBody>
      </p:sp>
      <p:sp>
        <p:nvSpPr>
          <p:cNvPr id="354" name="Card"/>
          <p:cNvSpPr/>
          <p:nvPr/>
        </p:nvSpPr>
        <p:spPr>
          <a:xfrm>
            <a:off x="566928" y="5870448"/>
            <a:ext cx="11073384" cy="731520"/>
          </a:xfrm>
          <a:prstGeom prst="roundRect">
            <a:avLst>
              <a:gd name="adj" fmla="val 1000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355" name="Dot"/>
          <p:cNvSpPr/>
          <p:nvPr/>
        </p:nvSpPr>
        <p:spPr>
          <a:xfrm>
            <a:off x="859536" y="6153912"/>
            <a:ext cx="164592" cy="164592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6" name="Text"/>
          <p:cNvSpPr/>
          <p:nvPr/>
        </p:nvSpPr>
        <p:spPr>
          <a:xfrm>
            <a:off x="1170432" y="5961888"/>
            <a:ext cx="10158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 k=1 the model scores a perfect 1.000 on training data and 0.707 on data it has not seen.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357" name="Text"/>
          <p:cNvSpPr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shape, twice more</a:t>
            </a:r>
          </a:p>
        </p:txBody>
      </p:sp>
      <p:sp>
        <p:nvSpPr>
          <p:cNvPr id="358" name="Dot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9" name="Text"/>
          <p:cNvSpPr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Boosting and margin width behave identically</a:t>
            </a:r>
          </a:p>
        </p:txBody>
      </p:sp>
      <p:sp>
        <p:nvSpPr>
          <p:cNvPr id="360" name="Card"/>
          <p:cNvSpPr/>
          <p:nvPr/>
        </p:nvSpPr>
        <p:spPr>
          <a:xfrm>
            <a:off x="566928" y="1572768"/>
            <a:ext cx="5440680" cy="3749039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361" name="Picture 360" descr="plot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721629"/>
            <a:ext cx="5221224" cy="3451317"/>
          </a:xfrm>
          <a:prstGeom prst="rect">
            <a:avLst/>
          </a:prstGeom>
        </p:spPr>
      </p:pic>
      <p:sp>
        <p:nvSpPr>
          <p:cNvPr id="361" name="Card"/>
          <p:cNvSpPr/>
          <p:nvPr/>
        </p:nvSpPr>
        <p:spPr>
          <a:xfrm>
            <a:off x="6199632" y="1572768"/>
            <a:ext cx="5440680" cy="3749039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362" name="Picture 361" descr="plot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21629"/>
            <a:ext cx="5221224" cy="3451317"/>
          </a:xfrm>
          <a:prstGeom prst="rect">
            <a:avLst/>
          </a:prstGeom>
        </p:spPr>
      </p:pic>
      <p:sp>
        <p:nvSpPr>
          <p:cNvPr id="362" name="Text"/>
          <p:cNvSpPr/>
          <p:nvPr/>
        </p:nvSpPr>
        <p:spPr>
          <a:xfrm>
            <a:off x="566928" y="53949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XGBoost: validation peaks at learning rate 0.03</a:t>
            </a:r>
          </a:p>
        </p:txBody>
      </p:sp>
      <p:sp>
        <p:nvSpPr>
          <p:cNvPr id="363" name="Text"/>
          <p:cNvSpPr/>
          <p:nvPr/>
        </p:nvSpPr>
        <p:spPr>
          <a:xfrm>
            <a:off x="6199632" y="53949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SVM: validation peaks at C=1, gap 0.060 by C=100</a:t>
            </a:r>
          </a:p>
        </p:txBody>
      </p:sp>
      <p:sp>
        <p:nvSpPr>
          <p:cNvPr id="364" name="Card"/>
          <p:cNvSpPr/>
          <p:nvPr/>
        </p:nvSpPr>
        <p:spPr>
          <a:xfrm>
            <a:off x="566928" y="5870448"/>
            <a:ext cx="11073384" cy="731520"/>
          </a:xfrm>
          <a:prstGeom prst="roundRect">
            <a:avLst>
              <a:gd name="adj" fmla="val 1000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365" name="Dot"/>
          <p:cNvSpPr/>
          <p:nvPr/>
        </p:nvSpPr>
        <p:spPr>
          <a:xfrm>
            <a:off x="859536" y="6153912"/>
            <a:ext cx="164592" cy="164592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6" name="Text"/>
          <p:cNvSpPr/>
          <p:nvPr/>
        </p:nvSpPr>
        <p:spPr>
          <a:xfrm>
            <a:off x="1170432" y="5961888"/>
            <a:ext cx="10158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Complexity has to be tuned against a validation set, never chosen by what looks best on training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367" name="Text"/>
          <p:cNvSpPr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Simple won</a:t>
            </a:r>
          </a:p>
        </p:txBody>
      </p:sp>
      <p:sp>
        <p:nvSpPr>
          <p:cNvPr id="368" name="Dot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9" name="Text"/>
          <p:cNvSpPr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Performance against generalisation</a:t>
            </a:r>
          </a:p>
        </p:txBody>
      </p:sp>
      <p:sp>
        <p:nvSpPr>
          <p:cNvPr id="370" name="Card"/>
          <p:cNvSpPr/>
          <p:nvPr/>
        </p:nvSpPr>
        <p:spPr>
          <a:xfrm>
            <a:off x="566928" y="1572768"/>
            <a:ext cx="55321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371" name="Picture 370" descr="plot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41058"/>
            <a:ext cx="5312664" cy="3669658"/>
          </a:xfrm>
          <a:prstGeom prst="rect">
            <a:avLst/>
          </a:prstGeom>
        </p:spPr>
      </p:pic>
      <p:sp>
        <p:nvSpPr>
          <p:cNvPr id="371" name="Card"/>
          <p:cNvSpPr/>
          <p:nvPr/>
        </p:nvSpPr>
        <p:spPr>
          <a:xfrm>
            <a:off x="6309360" y="1572768"/>
            <a:ext cx="5330952" cy="2011680"/>
          </a:xfrm>
          <a:prstGeom prst="roundRect">
            <a:avLst>
              <a:gd name="adj" fmla="val 3636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372" name="Dot"/>
          <p:cNvSpPr/>
          <p:nvPr/>
        </p:nvSpPr>
        <p:spPr>
          <a:xfrm>
            <a:off x="6583680" y="1874519"/>
            <a:ext cx="137160" cy="137160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3" name="Text"/>
          <p:cNvSpPr/>
          <p:nvPr/>
        </p:nvSpPr>
        <p:spPr>
          <a:xfrm>
            <a:off x="6848856" y="1773936"/>
            <a:ext cx="4517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Selected classifier</a:t>
            </a:r>
          </a:p>
        </p:txBody>
      </p:sp>
      <p:sp>
        <p:nvSpPr>
          <p:cNvPr id="374" name="Text"/>
          <p:cNvSpPr/>
          <p:nvPr/>
        </p:nvSpPr>
        <p:spPr>
          <a:xfrm>
            <a:off x="6583680" y="2231136"/>
            <a:ext cx="4782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Logistic Regression. Best test ROC-AUC, smallest gap, trains in under a second, coefficients you can read.</a:t>
            </a:r>
          </a:p>
        </p:txBody>
      </p:sp>
      <p:sp>
        <p:nvSpPr>
          <p:cNvPr id="375" name="Card"/>
          <p:cNvSpPr/>
          <p:nvPr/>
        </p:nvSpPr>
        <p:spPr>
          <a:xfrm>
            <a:off x="6309360" y="3767328"/>
            <a:ext cx="5330952" cy="2011680"/>
          </a:xfrm>
          <a:prstGeom prst="roundRect">
            <a:avLst>
              <a:gd name="adj" fmla="val 3636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376" name="Dot"/>
          <p:cNvSpPr/>
          <p:nvPr/>
        </p:nvSpPr>
        <p:spPr>
          <a:xfrm>
            <a:off x="6583680" y="4069080"/>
            <a:ext cx="137160" cy="137160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7" name="Text"/>
          <p:cNvSpPr/>
          <p:nvPr/>
        </p:nvSpPr>
        <p:spPr>
          <a:xfrm>
            <a:off x="6848856" y="3968496"/>
            <a:ext cx="4517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Selected regressor</a:t>
            </a:r>
          </a:p>
        </p:txBody>
      </p:sp>
      <p:sp>
        <p:nvSpPr>
          <p:cNvPr id="378" name="Text"/>
          <p:cNvSpPr/>
          <p:nvPr/>
        </p:nvSpPr>
        <p:spPr>
          <a:xfrm>
            <a:off x="6583680" y="4425696"/>
            <a:ext cx="4782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Linear Regression. Best test R2 and MAE of all six, because ArrDelay is close to linear in DepDelay.</a:t>
            </a:r>
          </a:p>
        </p:txBody>
      </p:sp>
      <p:sp>
        <p:nvSpPr>
          <p:cNvPr id="379" name="Card"/>
          <p:cNvSpPr/>
          <p:nvPr/>
        </p:nvSpPr>
        <p:spPr>
          <a:xfrm>
            <a:off x="566928" y="5961888"/>
            <a:ext cx="11073384" cy="731520"/>
          </a:xfrm>
          <a:prstGeom prst="roundRect">
            <a:avLst>
              <a:gd name="adj" fmla="val 1000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380" name="Dot"/>
          <p:cNvSpPr/>
          <p:nvPr/>
        </p:nvSpPr>
        <p:spPr>
          <a:xfrm>
            <a:off x="859536" y="6245352"/>
            <a:ext cx="164592" cy="164592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1" name="Text"/>
          <p:cNvSpPr/>
          <p:nvPr/>
        </p:nvSpPr>
        <p:spPr>
          <a:xfrm>
            <a:off x="1170432" y="6053327"/>
            <a:ext cx="10158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best model is not the most sophisticated one. It is the one that generalises and fits the deployment.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382" name="Text"/>
          <p:cNvSpPr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the model fails</a:t>
            </a:r>
          </a:p>
        </p:txBody>
      </p:sp>
      <p:sp>
        <p:nvSpPr>
          <p:cNvPr id="383" name="Dot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4" name="Text"/>
          <p:cNvSpPr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125 flights it could never have caught</a:t>
            </a:r>
          </a:p>
        </p:txBody>
      </p:sp>
      <p:sp>
        <p:nvSpPr>
          <p:cNvPr id="385" name="Card"/>
          <p:cNvSpPr/>
          <p:nvPr/>
        </p:nvSpPr>
        <p:spPr>
          <a:xfrm>
            <a:off x="566928" y="1572768"/>
            <a:ext cx="46634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386" name="Picture 385" descr="plot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18" y="1682496"/>
            <a:ext cx="4207459" cy="3712463"/>
          </a:xfrm>
          <a:prstGeom prst="rect">
            <a:avLst/>
          </a:prstGeom>
        </p:spPr>
      </p:pic>
      <p:sp>
        <p:nvSpPr>
          <p:cNvPr id="386" name="Card"/>
          <p:cNvSpPr/>
          <p:nvPr/>
        </p:nvSpPr>
        <p:spPr>
          <a:xfrm>
            <a:off x="5440680" y="1572768"/>
            <a:ext cx="6199632" cy="1874519"/>
          </a:xfrm>
          <a:prstGeom prst="roundRect">
            <a:avLst>
              <a:gd name="adj" fmla="val 3902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387" name="Dot"/>
          <p:cNvSpPr/>
          <p:nvPr/>
        </p:nvSpPr>
        <p:spPr>
          <a:xfrm>
            <a:off x="5715000" y="1874519"/>
            <a:ext cx="137160" cy="137160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8" name="Text"/>
          <p:cNvSpPr/>
          <p:nvPr/>
        </p:nvSpPr>
        <p:spPr>
          <a:xfrm>
            <a:off x="5980176" y="1773936"/>
            <a:ext cx="5385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False negatives, mean DepDelay 0.15 min</a:t>
            </a:r>
          </a:p>
        </p:txBody>
      </p:sp>
      <p:sp>
        <p:nvSpPr>
          <p:cNvPr id="389" name="Text"/>
          <p:cNvSpPr/>
          <p:nvPr/>
        </p:nvSpPr>
        <p:spPr>
          <a:xfrm>
            <a:off x="5715000" y="2231136"/>
            <a:ext cx="5650992" cy="1005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They left the gate on time and lost the time in the air, after the moment this model makes its call.</a:t>
            </a:r>
          </a:p>
        </p:txBody>
      </p:sp>
      <p:sp>
        <p:nvSpPr>
          <p:cNvPr id="390" name="Card"/>
          <p:cNvSpPr/>
          <p:nvPr/>
        </p:nvSpPr>
        <p:spPr>
          <a:xfrm>
            <a:off x="5440680" y="3630168"/>
            <a:ext cx="6199632" cy="1874519"/>
          </a:xfrm>
          <a:prstGeom prst="roundRect">
            <a:avLst>
              <a:gd name="adj" fmla="val 3902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391" name="Dot"/>
          <p:cNvSpPr/>
          <p:nvPr/>
        </p:nvSpPr>
        <p:spPr>
          <a:xfrm>
            <a:off x="5715000" y="3931920"/>
            <a:ext cx="137160" cy="137160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2" name="Text"/>
          <p:cNvSpPr/>
          <p:nvPr/>
        </p:nvSpPr>
        <p:spPr>
          <a:xfrm>
            <a:off x="5980176" y="3831336"/>
            <a:ext cx="5385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False positives, mean DepDelay 12.3 min</a:t>
            </a:r>
          </a:p>
        </p:txBody>
      </p:sp>
      <p:sp>
        <p:nvSpPr>
          <p:cNvPr id="393" name="Text"/>
          <p:cNvSpPr/>
          <p:nvPr/>
        </p:nvSpPr>
        <p:spPr>
          <a:xfrm>
            <a:off x="5715000" y="4288536"/>
            <a:ext cx="5650992" cy="1005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They looked risky at departure and made the time back. Genuinely uncertain, not a modelling error.</a:t>
            </a:r>
          </a:p>
        </p:txBody>
      </p:sp>
      <p:sp>
        <p:nvSpPr>
          <p:cNvPr id="394" name="Card"/>
          <p:cNvSpPr/>
          <p:nvPr/>
        </p:nvSpPr>
        <p:spPr>
          <a:xfrm>
            <a:off x="566928" y="5669280"/>
            <a:ext cx="11073384" cy="786384"/>
          </a:xfrm>
          <a:prstGeom prst="roundRect">
            <a:avLst>
              <a:gd name="adj" fmla="val 9302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395" name="Dot"/>
          <p:cNvSpPr/>
          <p:nvPr/>
        </p:nvSpPr>
        <p:spPr>
          <a:xfrm>
            <a:off x="859536" y="5980176"/>
            <a:ext cx="164592" cy="164592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6" name="Text"/>
          <p:cNvSpPr/>
          <p:nvPr/>
        </p:nvSpPr>
        <p:spPr>
          <a:xfrm>
            <a:off x="1170432" y="5760720"/>
            <a:ext cx="10158984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real limit is the in air delay. No feature available at departure can see it. That is data, not modelling.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397" name="Text"/>
          <p:cNvSpPr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residuals lean one way</a:t>
            </a:r>
          </a:p>
        </p:txBody>
      </p:sp>
      <p:sp>
        <p:nvSpPr>
          <p:cNvPr id="398" name="Dot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9" name="Text"/>
          <p:cNvSpPr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 prediction on every delayed bucket</a:t>
            </a:r>
          </a:p>
        </p:txBody>
      </p:sp>
      <p:sp>
        <p:nvSpPr>
          <p:cNvPr id="400" name="Card"/>
          <p:cNvSpPr/>
          <p:nvPr/>
        </p:nvSpPr>
        <p:spPr>
          <a:xfrm>
            <a:off x="566928" y="1572768"/>
            <a:ext cx="11073384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401" name="Picture 400" descr="plot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730376"/>
            <a:ext cx="10853928" cy="2793742"/>
          </a:xfrm>
          <a:prstGeom prst="rect">
            <a:avLst/>
          </a:prstGeom>
        </p:spPr>
      </p:pic>
      <p:sp>
        <p:nvSpPr>
          <p:cNvPr id="401" name="Card"/>
          <p:cNvSpPr/>
          <p:nvPr/>
        </p:nvSpPr>
        <p:spPr>
          <a:xfrm>
            <a:off x="566928" y="4846320"/>
            <a:ext cx="3547872" cy="1280160"/>
          </a:xfrm>
          <a:prstGeom prst="roundRect">
            <a:avLst>
              <a:gd name="adj" fmla="val 5714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402" name="Dot"/>
          <p:cNvSpPr/>
          <p:nvPr/>
        </p:nvSpPr>
        <p:spPr>
          <a:xfrm>
            <a:off x="3803904" y="5029200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3" name="Text"/>
          <p:cNvSpPr/>
          <p:nvPr/>
        </p:nvSpPr>
        <p:spPr>
          <a:xfrm>
            <a:off x="768096" y="5029200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-2.6 min</a:t>
            </a:r>
          </a:p>
        </p:txBody>
      </p:sp>
      <p:sp>
        <p:nvSpPr>
          <p:cNvPr id="404" name="Text"/>
          <p:cNvSpPr/>
          <p:nvPr/>
        </p:nvSpPr>
        <p:spPr>
          <a:xfrm>
            <a:off x="768096" y="5559552"/>
            <a:ext cx="3218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time flights, slight over prediction</a:t>
            </a:r>
          </a:p>
        </p:txBody>
      </p:sp>
      <p:sp>
        <p:nvSpPr>
          <p:cNvPr id="405" name="Card"/>
          <p:cNvSpPr/>
          <p:nvPr/>
        </p:nvSpPr>
        <p:spPr>
          <a:xfrm>
            <a:off x="4325112" y="4846320"/>
            <a:ext cx="3547872" cy="1280160"/>
          </a:xfrm>
          <a:prstGeom prst="roundRect">
            <a:avLst>
              <a:gd name="adj" fmla="val 5714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406" name="Dot"/>
          <p:cNvSpPr/>
          <p:nvPr/>
        </p:nvSpPr>
        <p:spPr>
          <a:xfrm>
            <a:off x="7562088" y="5029200"/>
            <a:ext cx="146304" cy="146304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7" name="Text"/>
          <p:cNvSpPr/>
          <p:nvPr/>
        </p:nvSpPr>
        <p:spPr>
          <a:xfrm>
            <a:off x="4526280" y="5029200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+4 to +6 min</a:t>
            </a:r>
          </a:p>
        </p:txBody>
      </p:sp>
      <p:sp>
        <p:nvSpPr>
          <p:cNvPr id="408" name="Text"/>
          <p:cNvSpPr/>
          <p:nvPr/>
        </p:nvSpPr>
        <p:spPr>
          <a:xfrm>
            <a:off x="4526280" y="5559552"/>
            <a:ext cx="3218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delayed bucket, under predicted</a:t>
            </a:r>
          </a:p>
        </p:txBody>
      </p:sp>
      <p:sp>
        <p:nvSpPr>
          <p:cNvPr id="409" name="Card"/>
          <p:cNvSpPr/>
          <p:nvPr/>
        </p:nvSpPr>
        <p:spPr>
          <a:xfrm>
            <a:off x="8083296" y="4846320"/>
            <a:ext cx="3557016" cy="1280160"/>
          </a:xfrm>
          <a:prstGeom prst="roundRect">
            <a:avLst>
              <a:gd name="adj" fmla="val 5714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410" name="Dot"/>
          <p:cNvSpPr/>
          <p:nvPr/>
        </p:nvSpPr>
        <p:spPr>
          <a:xfrm>
            <a:off x="11329416" y="5029200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1" name="Text"/>
          <p:cNvSpPr/>
          <p:nvPr/>
        </p:nvSpPr>
        <p:spPr>
          <a:xfrm>
            <a:off x="8284464" y="5029200"/>
            <a:ext cx="3008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7.29 min</a:t>
            </a:r>
          </a:p>
        </p:txBody>
      </p:sp>
      <p:sp>
        <p:nvSpPr>
          <p:cNvPr id="412" name="Text"/>
          <p:cNvSpPr/>
          <p:nvPr/>
        </p:nvSpPr>
        <p:spPr>
          <a:xfrm>
            <a:off x="8284464" y="5559552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 absolute error on test</a:t>
            </a:r>
          </a:p>
        </p:txBody>
      </p:sp>
      <p:sp>
        <p:nvSpPr>
          <p:cNvPr id="413" name="Card"/>
          <p:cNvSpPr/>
          <p:nvPr/>
        </p:nvSpPr>
        <p:spPr>
          <a:xfrm>
            <a:off x="566928" y="6272784"/>
            <a:ext cx="11073384" cy="512064"/>
          </a:xfrm>
          <a:prstGeom prst="roundRect">
            <a:avLst>
              <a:gd name="adj" fmla="val 14286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414" name="Dot"/>
          <p:cNvSpPr/>
          <p:nvPr/>
        </p:nvSpPr>
        <p:spPr>
          <a:xfrm>
            <a:off x="859536" y="6446520"/>
            <a:ext cx="164592" cy="164592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5" name="Text"/>
          <p:cNvSpPr/>
          <p:nvPr/>
        </p:nvSpPr>
        <p:spPr>
          <a:xfrm>
            <a:off x="1170432" y="6364224"/>
            <a:ext cx="10158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Once a delay is underway, the model consistently guesses it will be milder than it turns out to be.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416" name="Text"/>
          <p:cNvSpPr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Clusters nobody labelled</a:t>
            </a:r>
          </a:p>
        </p:txBody>
      </p:sp>
      <p:sp>
        <p:nvSpPr>
          <p:cNvPr id="417" name="Dot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8" name="Text"/>
          <p:cNvSpPr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KMeans on schedule and ground features only, no target</a:t>
            </a:r>
          </a:p>
        </p:txBody>
      </p:sp>
      <p:sp>
        <p:nvSpPr>
          <p:cNvPr id="419" name="Card"/>
          <p:cNvSpPr/>
          <p:nvPr/>
        </p:nvSpPr>
        <p:spPr>
          <a:xfrm>
            <a:off x="566928" y="1572768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420" name="Picture 419" descr="plot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03698"/>
            <a:ext cx="5221224" cy="1869859"/>
          </a:xfrm>
          <a:prstGeom prst="rect">
            <a:avLst/>
          </a:prstGeom>
        </p:spPr>
      </p:pic>
      <p:sp>
        <p:nvSpPr>
          <p:cNvPr id="420" name="Card"/>
          <p:cNvSpPr/>
          <p:nvPr/>
        </p:nvSpPr>
        <p:spPr>
          <a:xfrm>
            <a:off x="6199632" y="1572768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421" name="Picture 420" descr="plot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72547"/>
            <a:ext cx="5221224" cy="1932160"/>
          </a:xfrm>
          <a:prstGeom prst="rect">
            <a:avLst/>
          </a:prstGeom>
        </p:spPr>
      </p:pic>
      <p:sp>
        <p:nvSpPr>
          <p:cNvPr id="421" name="Text"/>
          <p:cNvSpPr/>
          <p:nvPr/>
        </p:nvSpPr>
        <p:spPr>
          <a:xfrm>
            <a:off x="566928" y="3968496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Silhouette peaks at k=2, k=4 is more useful</a:t>
            </a:r>
          </a:p>
        </p:txBody>
      </p:sp>
      <p:sp>
        <p:nvSpPr>
          <p:cNvPr id="422" name="Text"/>
          <p:cNvSpPr/>
          <p:nvPr/>
        </p:nvSpPr>
        <p:spPr>
          <a:xfrm>
            <a:off x="6199632" y="3968496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cluster sits far above the rest</a:t>
            </a:r>
          </a:p>
        </p:txBody>
      </p:sp>
      <p:sp>
        <p:nvSpPr>
          <p:cNvPr id="423" name="Card"/>
          <p:cNvSpPr/>
          <p:nvPr/>
        </p:nvSpPr>
        <p:spPr>
          <a:xfrm>
            <a:off x="566928" y="4389120"/>
            <a:ext cx="11073384" cy="1298448"/>
          </a:xfrm>
          <a:prstGeom prst="roundRect">
            <a:avLst>
              <a:gd name="adj" fmla="val 5634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424" name="Dot"/>
          <p:cNvSpPr/>
          <p:nvPr/>
        </p:nvSpPr>
        <p:spPr>
          <a:xfrm>
            <a:off x="841247" y="4690872"/>
            <a:ext cx="137160" cy="137160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5" name="Text"/>
          <p:cNvSpPr/>
          <p:nvPr/>
        </p:nvSpPr>
        <p:spPr>
          <a:xfrm>
            <a:off x="1106424" y="4590288"/>
            <a:ext cx="102595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Cluster 3: 612 flights, mean ArrDelay 245.8 minutes, 100% delayed</a:t>
            </a:r>
          </a:p>
        </p:txBody>
      </p:sp>
      <p:sp>
        <p:nvSpPr>
          <p:cNvPr id="426" name="Text"/>
          <p:cNvSpPr/>
          <p:nvPr/>
        </p:nvSpPr>
        <p:spPr>
          <a:xfrm>
            <a:off x="841247" y="5047488"/>
            <a:ext cx="10524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KMeans isolated a severe delay segment on its own, from schedule and ground features alone, without ever seeing the target column.</a:t>
            </a:r>
          </a:p>
        </p:txBody>
      </p:sp>
      <p:sp>
        <p:nvSpPr>
          <p:cNvPr id="427" name="Card"/>
          <p:cNvSpPr/>
          <p:nvPr/>
        </p:nvSpPr>
        <p:spPr>
          <a:xfrm>
            <a:off x="566928" y="5870448"/>
            <a:ext cx="11073384" cy="731520"/>
          </a:xfrm>
          <a:prstGeom prst="roundRect">
            <a:avLst>
              <a:gd name="adj" fmla="val 1000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428" name="Dot"/>
          <p:cNvSpPr/>
          <p:nvPr/>
        </p:nvSpPr>
        <p:spPr>
          <a:xfrm>
            <a:off x="859536" y="6153912"/>
            <a:ext cx="164592" cy="164592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9" name="Text"/>
          <p:cNvSpPr/>
          <p:nvPr/>
        </p:nvSpPr>
        <p:spPr>
          <a:xfrm>
            <a:off x="1170432" y="5961888"/>
            <a:ext cx="10158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Unsupervised learning found the thing the supervised models were trained to predict.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430" name="Text"/>
          <p:cNvSpPr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segment, found twice</a:t>
            </a:r>
          </a:p>
        </p:txBody>
      </p:sp>
      <p:sp>
        <p:nvSpPr>
          <p:cNvPr id="431" name="Dot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2" name="Text"/>
          <p:cNvSpPr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different algorithm reaches a similar answer</a:t>
            </a:r>
          </a:p>
        </p:txBody>
      </p:sp>
      <p:sp>
        <p:nvSpPr>
          <p:cNvPr id="433" name="Card"/>
          <p:cNvSpPr/>
          <p:nvPr/>
        </p:nvSpPr>
        <p:spPr>
          <a:xfrm>
            <a:off x="566928" y="1572768"/>
            <a:ext cx="5440680" cy="3749039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434" name="Picture 433" descr="plot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721629"/>
            <a:ext cx="5221224" cy="3451317"/>
          </a:xfrm>
          <a:prstGeom prst="rect">
            <a:avLst/>
          </a:prstGeom>
        </p:spPr>
      </p:pic>
      <p:sp>
        <p:nvSpPr>
          <p:cNvPr id="434" name="Card"/>
          <p:cNvSpPr/>
          <p:nvPr/>
        </p:nvSpPr>
        <p:spPr>
          <a:xfrm>
            <a:off x="6199632" y="1572768"/>
            <a:ext cx="5440680" cy="3749039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435" name="Picture 434" descr="plot_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21629"/>
            <a:ext cx="5221224" cy="3451317"/>
          </a:xfrm>
          <a:prstGeom prst="rect">
            <a:avLst/>
          </a:prstGeom>
        </p:spPr>
      </p:pic>
      <p:sp>
        <p:nvSpPr>
          <p:cNvPr id="435" name="Text"/>
          <p:cNvSpPr/>
          <p:nvPr/>
        </p:nvSpPr>
        <p:spPr>
          <a:xfrm>
            <a:off x="566928" y="53949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BIC keeps falling, so k=4 matches KMeans for comparison</a:t>
            </a:r>
          </a:p>
        </p:txBody>
      </p:sp>
      <p:sp>
        <p:nvSpPr>
          <p:cNvPr id="436" name="Text"/>
          <p:cNvSpPr/>
          <p:nvPr/>
        </p:nvSpPr>
        <p:spPr>
          <a:xfrm>
            <a:off x="6199632" y="53949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Cluster 1: TaxiOut 30.7 min, 92% delayed</a:t>
            </a:r>
          </a:p>
        </p:txBody>
      </p:sp>
      <p:sp>
        <p:nvSpPr>
          <p:cNvPr id="437" name="Card"/>
          <p:cNvSpPr/>
          <p:nvPr/>
        </p:nvSpPr>
        <p:spPr>
          <a:xfrm>
            <a:off x="566928" y="5870448"/>
            <a:ext cx="11073384" cy="731520"/>
          </a:xfrm>
          <a:prstGeom prst="roundRect">
            <a:avLst>
              <a:gd name="adj" fmla="val 1000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438" name="Dot"/>
          <p:cNvSpPr/>
          <p:nvPr/>
        </p:nvSpPr>
        <p:spPr>
          <a:xfrm>
            <a:off x="859536" y="6153912"/>
            <a:ext cx="164592" cy="164592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9" name="Text"/>
          <p:cNvSpPr/>
          <p:nvPr/>
        </p:nvSpPr>
        <p:spPr>
          <a:xfrm>
            <a:off x="1170432" y="5961888"/>
            <a:ext cx="10158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GMM anchors its severe group on ground congestion rather than total delay, so the two only partly agree.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440" name="Text"/>
          <p:cNvSpPr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220 columns into 44</a:t>
            </a:r>
          </a:p>
        </p:txBody>
      </p:sp>
      <p:sp>
        <p:nvSpPr>
          <p:cNvPr id="441" name="Dot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2" name="Text"/>
          <p:cNvSpPr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Ninety percent of the variance, for 0.0009 of AUC</a:t>
            </a:r>
          </a:p>
        </p:txBody>
      </p:sp>
      <p:sp>
        <p:nvSpPr>
          <p:cNvPr id="443" name="Card"/>
          <p:cNvSpPr/>
          <p:nvPr/>
        </p:nvSpPr>
        <p:spPr>
          <a:xfrm>
            <a:off x="566928" y="1572768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444" name="Picture 443" descr="plot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26558"/>
            <a:ext cx="5221224" cy="1869859"/>
          </a:xfrm>
          <a:prstGeom prst="rect">
            <a:avLst/>
          </a:prstGeom>
        </p:spPr>
      </p:pic>
      <p:sp>
        <p:nvSpPr>
          <p:cNvPr id="444" name="Card"/>
          <p:cNvSpPr/>
          <p:nvPr/>
        </p:nvSpPr>
        <p:spPr>
          <a:xfrm>
            <a:off x="6199632" y="1572768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pic>
        <p:nvPicPr>
          <p:cNvPr id="445" name="Picture 444" descr="plot_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07662"/>
            <a:ext cx="5221224" cy="2107650"/>
          </a:xfrm>
          <a:prstGeom prst="rect">
            <a:avLst/>
          </a:prstGeom>
        </p:spPr>
      </p:pic>
      <p:sp>
        <p:nvSpPr>
          <p:cNvPr id="445" name="Text"/>
          <p:cNvSpPr/>
          <p:nvPr/>
        </p:nvSpPr>
        <p:spPr>
          <a:xfrm>
            <a:off x="566928" y="40233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44 components reach 90% of the variance</a:t>
            </a:r>
          </a:p>
        </p:txBody>
      </p:sp>
      <p:sp>
        <p:nvSpPr>
          <p:cNvPr id="446" name="Text"/>
          <p:cNvSpPr/>
          <p:nvPr/>
        </p:nvSpPr>
        <p:spPr>
          <a:xfrm>
            <a:off x="6199632" y="40233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two classes overlap heavily in 2D</a:t>
            </a:r>
          </a:p>
        </p:txBody>
      </p:sp>
      <p:sp>
        <p:nvSpPr>
          <p:cNvPr id="447" name="Card"/>
          <p:cNvSpPr/>
          <p:nvPr/>
        </p:nvSpPr>
        <p:spPr>
          <a:xfrm>
            <a:off x="566928" y="4443984"/>
            <a:ext cx="3547872" cy="1225296"/>
          </a:xfrm>
          <a:prstGeom prst="roundRect">
            <a:avLst>
              <a:gd name="adj" fmla="val 597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448" name="Dot"/>
          <p:cNvSpPr/>
          <p:nvPr/>
        </p:nvSpPr>
        <p:spPr>
          <a:xfrm>
            <a:off x="3803904" y="4626864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9" name="Text"/>
          <p:cNvSpPr/>
          <p:nvPr/>
        </p:nvSpPr>
        <p:spPr>
          <a:xfrm>
            <a:off x="768096" y="4626864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220 to 44</a:t>
            </a:r>
          </a:p>
        </p:txBody>
      </p:sp>
      <p:sp>
        <p:nvSpPr>
          <p:cNvPr id="450" name="Text"/>
          <p:cNvSpPr/>
          <p:nvPr/>
        </p:nvSpPr>
        <p:spPr>
          <a:xfrm>
            <a:off x="768096" y="5157216"/>
            <a:ext cx="3218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five fold reduction in columns</a:t>
            </a:r>
          </a:p>
        </p:txBody>
      </p:sp>
      <p:sp>
        <p:nvSpPr>
          <p:cNvPr id="451" name="Card"/>
          <p:cNvSpPr/>
          <p:nvPr/>
        </p:nvSpPr>
        <p:spPr>
          <a:xfrm>
            <a:off x="4325112" y="4443984"/>
            <a:ext cx="3547872" cy="1225296"/>
          </a:xfrm>
          <a:prstGeom prst="roundRect">
            <a:avLst>
              <a:gd name="adj" fmla="val 597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452" name="Dot"/>
          <p:cNvSpPr/>
          <p:nvPr/>
        </p:nvSpPr>
        <p:spPr>
          <a:xfrm>
            <a:off x="7562088" y="4626864"/>
            <a:ext cx="146304" cy="146304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3" name="Text"/>
          <p:cNvSpPr/>
          <p:nvPr/>
        </p:nvSpPr>
        <p:spPr>
          <a:xfrm>
            <a:off x="4526280" y="4626864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0.9649</a:t>
            </a:r>
          </a:p>
        </p:txBody>
      </p:sp>
      <p:sp>
        <p:nvSpPr>
          <p:cNvPr id="454" name="Text"/>
          <p:cNvSpPr/>
          <p:nvPr/>
        </p:nvSpPr>
        <p:spPr>
          <a:xfrm>
            <a:off x="4526280" y="5157216"/>
            <a:ext cx="3218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ROC-AUC without PCA</a:t>
            </a:r>
          </a:p>
        </p:txBody>
      </p:sp>
      <p:sp>
        <p:nvSpPr>
          <p:cNvPr id="455" name="Card"/>
          <p:cNvSpPr/>
          <p:nvPr/>
        </p:nvSpPr>
        <p:spPr>
          <a:xfrm>
            <a:off x="8083296" y="4443984"/>
            <a:ext cx="3557016" cy="1225296"/>
          </a:xfrm>
          <a:prstGeom prst="roundRect">
            <a:avLst>
              <a:gd name="adj" fmla="val 5970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456" name="Dot"/>
          <p:cNvSpPr/>
          <p:nvPr/>
        </p:nvSpPr>
        <p:spPr>
          <a:xfrm>
            <a:off x="11329416" y="4626864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7" name="Text"/>
          <p:cNvSpPr/>
          <p:nvPr/>
        </p:nvSpPr>
        <p:spPr>
          <a:xfrm>
            <a:off x="8284464" y="4626864"/>
            <a:ext cx="3008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0.9640</a:t>
            </a:r>
          </a:p>
        </p:txBody>
      </p:sp>
      <p:sp>
        <p:nvSpPr>
          <p:cNvPr id="458" name="Text"/>
          <p:cNvSpPr/>
          <p:nvPr/>
        </p:nvSpPr>
        <p:spPr>
          <a:xfrm>
            <a:off x="8284464" y="5157216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ROC-AUC with PCA</a:t>
            </a:r>
          </a:p>
        </p:txBody>
      </p:sp>
      <p:sp>
        <p:nvSpPr>
          <p:cNvPr id="459" name="Card"/>
          <p:cNvSpPr/>
          <p:nvPr/>
        </p:nvSpPr>
        <p:spPr>
          <a:xfrm>
            <a:off x="566928" y="5852160"/>
            <a:ext cx="11073384" cy="749808"/>
          </a:xfrm>
          <a:prstGeom prst="roundRect">
            <a:avLst>
              <a:gd name="adj" fmla="val 9756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460" name="Dot"/>
          <p:cNvSpPr/>
          <p:nvPr/>
        </p:nvSpPr>
        <p:spPr>
          <a:xfrm>
            <a:off x="859536" y="6144768"/>
            <a:ext cx="164592" cy="164592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1" name="Text"/>
          <p:cNvSpPr/>
          <p:nvPr/>
        </p:nvSpPr>
        <p:spPr>
          <a:xfrm>
            <a:off x="1170432" y="5943600"/>
            <a:ext cx="10158984" cy="566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Useful as compression for a slower model or a lighter deployment. Not needed for accuracy here.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462" name="Text"/>
          <p:cNvSpPr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the data says</a:t>
            </a:r>
          </a:p>
        </p:txBody>
      </p:sp>
      <p:sp>
        <p:nvSpPr>
          <p:cNvPr id="463" name="Dot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4" name="Text"/>
          <p:cNvSpPr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findings that shaped the result</a:t>
            </a:r>
          </a:p>
        </p:txBody>
      </p:sp>
      <p:sp>
        <p:nvSpPr>
          <p:cNvPr id="465" name="Card"/>
          <p:cNvSpPr/>
          <p:nvPr/>
        </p:nvSpPr>
        <p:spPr>
          <a:xfrm>
            <a:off x="566928" y="1627632"/>
            <a:ext cx="3547872" cy="2011680"/>
          </a:xfrm>
          <a:prstGeom prst="roundRect">
            <a:avLst>
              <a:gd name="adj" fmla="val 3636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466" name="Dot"/>
          <p:cNvSpPr/>
          <p:nvPr/>
        </p:nvSpPr>
        <p:spPr>
          <a:xfrm>
            <a:off x="841247" y="1938528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7" name="Text"/>
          <p:cNvSpPr/>
          <p:nvPr/>
        </p:nvSpPr>
        <p:spPr>
          <a:xfrm>
            <a:off x="1078992" y="18288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</a:p>
        </p:txBody>
      </p:sp>
      <p:sp>
        <p:nvSpPr>
          <p:cNvPr id="468" name="Text"/>
          <p:cNvSpPr/>
          <p:nvPr/>
        </p:nvSpPr>
        <p:spPr>
          <a:xfrm>
            <a:off x="841247" y="2359152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Departure delay is the problem</a:t>
            </a:r>
          </a:p>
        </p:txBody>
      </p:sp>
      <p:sp>
        <p:nvSpPr>
          <p:cNvPr id="469" name="Text"/>
          <p:cNvSpPr/>
          <p:nvPr/>
        </p:nvSpPr>
        <p:spPr>
          <a:xfrm>
            <a:off x="841247" y="30723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0.96 correlation with arrival</a:t>
            </a:r>
          </a:p>
        </p:txBody>
      </p:sp>
      <p:sp>
        <p:nvSpPr>
          <p:cNvPr id="470" name="Card"/>
          <p:cNvSpPr/>
          <p:nvPr/>
        </p:nvSpPr>
        <p:spPr>
          <a:xfrm>
            <a:off x="4325112" y="1627632"/>
            <a:ext cx="3547872" cy="2011680"/>
          </a:xfrm>
          <a:prstGeom prst="roundRect">
            <a:avLst>
              <a:gd name="adj" fmla="val 3636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471" name="Dot"/>
          <p:cNvSpPr/>
          <p:nvPr/>
        </p:nvSpPr>
        <p:spPr>
          <a:xfrm>
            <a:off x="4599432" y="1938528"/>
            <a:ext cx="146304" cy="146304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2" name="Text"/>
          <p:cNvSpPr/>
          <p:nvPr/>
        </p:nvSpPr>
        <p:spPr>
          <a:xfrm>
            <a:off x="4837176" y="18288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</a:p>
        </p:txBody>
      </p:sp>
      <p:sp>
        <p:nvSpPr>
          <p:cNvPr id="473" name="Text"/>
          <p:cNvSpPr/>
          <p:nvPr/>
        </p:nvSpPr>
        <p:spPr>
          <a:xfrm>
            <a:off x="4599432" y="2359152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boundary sets the ceiling</a:t>
            </a:r>
          </a:p>
        </p:txBody>
      </p:sp>
      <p:sp>
        <p:nvSpPr>
          <p:cNvPr id="474" name="Text"/>
          <p:cNvSpPr/>
          <p:nvPr/>
        </p:nvSpPr>
        <p:spPr>
          <a:xfrm>
            <a:off x="4599432" y="30723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0.96 after, about 0.70 before</a:t>
            </a:r>
          </a:p>
        </p:txBody>
      </p:sp>
      <p:sp>
        <p:nvSpPr>
          <p:cNvPr id="475" name="Card"/>
          <p:cNvSpPr/>
          <p:nvPr/>
        </p:nvSpPr>
        <p:spPr>
          <a:xfrm>
            <a:off x="8083296" y="1627632"/>
            <a:ext cx="3547872" cy="2011680"/>
          </a:xfrm>
          <a:prstGeom prst="roundRect">
            <a:avLst>
              <a:gd name="adj" fmla="val 3636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476" name="Dot"/>
          <p:cNvSpPr/>
          <p:nvPr/>
        </p:nvSpPr>
        <p:spPr>
          <a:xfrm>
            <a:off x="8357616" y="1938528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7" name="Text"/>
          <p:cNvSpPr/>
          <p:nvPr/>
        </p:nvSpPr>
        <p:spPr>
          <a:xfrm>
            <a:off x="8595360" y="18288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</a:p>
        </p:txBody>
      </p:sp>
      <p:sp>
        <p:nvSpPr>
          <p:cNvPr id="478" name="Text"/>
          <p:cNvSpPr/>
          <p:nvPr/>
        </p:nvSpPr>
        <p:spPr>
          <a:xfrm>
            <a:off x="8357616" y="2359152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Simple models won both</a:t>
            </a:r>
          </a:p>
        </p:txBody>
      </p:sp>
      <p:sp>
        <p:nvSpPr>
          <p:cNvPr id="479" name="Text"/>
          <p:cNvSpPr/>
          <p:nvPr/>
        </p:nvSpPr>
        <p:spPr>
          <a:xfrm>
            <a:off x="8357616" y="30723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Logistic 0.965, Linear R2 0.958</a:t>
            </a:r>
          </a:p>
        </p:txBody>
      </p:sp>
      <p:sp>
        <p:nvSpPr>
          <p:cNvPr id="480" name="Card"/>
          <p:cNvSpPr/>
          <p:nvPr/>
        </p:nvSpPr>
        <p:spPr>
          <a:xfrm>
            <a:off x="566928" y="3840480"/>
            <a:ext cx="3547872" cy="2011680"/>
          </a:xfrm>
          <a:prstGeom prst="roundRect">
            <a:avLst>
              <a:gd name="adj" fmla="val 3636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481" name="Dot"/>
          <p:cNvSpPr/>
          <p:nvPr/>
        </p:nvSpPr>
        <p:spPr>
          <a:xfrm>
            <a:off x="841247" y="4151376"/>
            <a:ext cx="146304" cy="146304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2" name="Text"/>
          <p:cNvSpPr/>
          <p:nvPr/>
        </p:nvSpPr>
        <p:spPr>
          <a:xfrm>
            <a:off x="1078992" y="40416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</a:p>
        </p:txBody>
      </p:sp>
      <p:sp>
        <p:nvSpPr>
          <p:cNvPr id="483" name="Text"/>
          <p:cNvSpPr/>
          <p:nvPr/>
        </p:nvSpPr>
        <p:spPr>
          <a:xfrm>
            <a:off x="841247" y="457200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Delay compounds through the day</a:t>
            </a:r>
          </a:p>
        </p:txBody>
      </p:sp>
      <p:sp>
        <p:nvSpPr>
          <p:cNvPr id="484" name="Text"/>
          <p:cNvSpPr/>
          <p:nvPr/>
        </p:nvSpPr>
        <p:spPr>
          <a:xfrm>
            <a:off x="841247" y="52852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-3 min at 5am, +12 by 6pm</a:t>
            </a:r>
          </a:p>
        </p:txBody>
      </p:sp>
      <p:sp>
        <p:nvSpPr>
          <p:cNvPr id="485" name="Card"/>
          <p:cNvSpPr/>
          <p:nvPr/>
        </p:nvSpPr>
        <p:spPr>
          <a:xfrm>
            <a:off x="4325112" y="3840480"/>
            <a:ext cx="3547872" cy="2011680"/>
          </a:xfrm>
          <a:prstGeom prst="roundRect">
            <a:avLst>
              <a:gd name="adj" fmla="val 3636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486" name="Dot"/>
          <p:cNvSpPr/>
          <p:nvPr/>
        </p:nvSpPr>
        <p:spPr>
          <a:xfrm>
            <a:off x="4599432" y="4151376"/>
            <a:ext cx="146304" cy="14630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7" name="Text"/>
          <p:cNvSpPr/>
          <p:nvPr/>
        </p:nvSpPr>
        <p:spPr>
          <a:xfrm>
            <a:off x="4837176" y="40416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</a:p>
        </p:txBody>
      </p:sp>
      <p:sp>
        <p:nvSpPr>
          <p:cNvPr id="488" name="Text"/>
          <p:cNvSpPr/>
          <p:nvPr/>
        </p:nvSpPr>
        <p:spPr>
          <a:xfrm>
            <a:off x="4599432" y="457200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failures are in the air</a:t>
            </a:r>
          </a:p>
        </p:txBody>
      </p:sp>
      <p:sp>
        <p:nvSpPr>
          <p:cNvPr id="489" name="Text"/>
          <p:cNvSpPr/>
          <p:nvPr/>
        </p:nvSpPr>
        <p:spPr>
          <a:xfrm>
            <a:off x="4599432" y="52852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false negatives left on time</a:t>
            </a:r>
          </a:p>
        </p:txBody>
      </p:sp>
      <p:sp>
        <p:nvSpPr>
          <p:cNvPr id="490" name="Card"/>
          <p:cNvSpPr/>
          <p:nvPr/>
        </p:nvSpPr>
        <p:spPr>
          <a:xfrm>
            <a:off x="8083296" y="3840480"/>
            <a:ext cx="3547872" cy="2011680"/>
          </a:xfrm>
          <a:prstGeom prst="roundRect">
            <a:avLst>
              <a:gd name="adj" fmla="val 3636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491" name="Dot"/>
          <p:cNvSpPr/>
          <p:nvPr/>
        </p:nvSpPr>
        <p:spPr>
          <a:xfrm>
            <a:off x="8357616" y="4151376"/>
            <a:ext cx="146304" cy="146304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2" name="Text"/>
          <p:cNvSpPr/>
          <p:nvPr/>
        </p:nvSpPr>
        <p:spPr>
          <a:xfrm>
            <a:off x="8595360" y="40416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</a:p>
        </p:txBody>
      </p:sp>
      <p:sp>
        <p:nvSpPr>
          <p:cNvPr id="493" name="Text"/>
          <p:cNvSpPr/>
          <p:nvPr/>
        </p:nvSpPr>
        <p:spPr>
          <a:xfrm>
            <a:off x="8357616" y="457200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Clustering found it unsupervised</a:t>
            </a:r>
          </a:p>
        </p:txBody>
      </p:sp>
      <p:sp>
        <p:nvSpPr>
          <p:cNvPr id="494" name="Text"/>
          <p:cNvSpPr/>
          <p:nvPr/>
        </p:nvSpPr>
        <p:spPr>
          <a:xfrm>
            <a:off x="8357616" y="52852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612 flights, 245.8 min, no target</a:t>
            </a:r>
          </a:p>
        </p:txBody>
      </p:sp>
      <p:sp>
        <p:nvSpPr>
          <p:cNvPr id="495" name="Card"/>
          <p:cNvSpPr/>
          <p:nvPr/>
        </p:nvSpPr>
        <p:spPr>
          <a:xfrm>
            <a:off x="566928" y="6108192"/>
            <a:ext cx="11073384" cy="603504"/>
          </a:xfrm>
          <a:prstGeom prst="roundRect">
            <a:avLst>
              <a:gd name="adj" fmla="val 12121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496" name="Dot"/>
          <p:cNvSpPr/>
          <p:nvPr/>
        </p:nvSpPr>
        <p:spPr>
          <a:xfrm>
            <a:off x="859536" y="6327648"/>
            <a:ext cx="164592" cy="164592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7" name="Text"/>
          <p:cNvSpPr/>
          <p:nvPr/>
        </p:nvSpPr>
        <p:spPr>
          <a:xfrm>
            <a:off x="1170432" y="6199631"/>
            <a:ext cx="10158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framing decision in Part 1 mattered more to the final numbers than any model or hyperparameter after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498" name="Text"/>
          <p:cNvSpPr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we would do about it</a:t>
            </a:r>
          </a:p>
        </p:txBody>
      </p:sp>
      <p:sp>
        <p:nvSpPr>
          <p:cNvPr id="499" name="Dot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0" name="Text"/>
          <p:cNvSpPr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one tied to a finding</a:t>
            </a:r>
          </a:p>
        </p:txBody>
      </p:sp>
      <p:sp>
        <p:nvSpPr>
          <p:cNvPr id="501" name="Card"/>
          <p:cNvSpPr/>
          <p:nvPr/>
        </p:nvSpPr>
        <p:spPr>
          <a:xfrm>
            <a:off x="566928" y="1874519"/>
            <a:ext cx="11073384" cy="822960"/>
          </a:xfrm>
          <a:prstGeom prst="roundRect">
            <a:avLst>
              <a:gd name="adj" fmla="val 8889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502" name="Dot"/>
          <p:cNvSpPr/>
          <p:nvPr/>
        </p:nvSpPr>
        <p:spPr>
          <a:xfrm>
            <a:off x="822960" y="2093976"/>
            <a:ext cx="384048" cy="384048"/>
          </a:xfrm>
          <a:prstGeom prst="ellipse">
            <a:avLst/>
          </a:prstGeom>
          <a:solidFill>
            <a:srgbClr val="522C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3" name="Text"/>
          <p:cNvSpPr/>
          <p:nvPr/>
        </p:nvSpPr>
        <p:spPr>
          <a:xfrm>
            <a:off x="822960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300" b="1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</a:p>
        </p:txBody>
      </p:sp>
      <p:sp>
        <p:nvSpPr>
          <p:cNvPr id="504" name="Text"/>
          <p:cNvSpPr/>
          <p:nvPr/>
        </p:nvSpPr>
        <p:spPr>
          <a:xfrm>
            <a:off x="1517904" y="1892807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Ship it for post departure updates</a:t>
            </a:r>
          </a:p>
        </p:txBody>
      </p:sp>
      <p:sp>
        <p:nvSpPr>
          <p:cNvPr id="505" name="Text"/>
          <p:cNvSpPr/>
          <p:nvPr/>
        </p:nvSpPr>
        <p:spPr>
          <a:xfrm>
            <a:off x="6400800" y="1892807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and connection planning, passenger comms</a:t>
            </a:r>
          </a:p>
        </p:txBody>
      </p:sp>
      <p:sp>
        <p:nvSpPr>
          <p:cNvPr id="506" name="Card"/>
          <p:cNvSpPr/>
          <p:nvPr/>
        </p:nvSpPr>
        <p:spPr>
          <a:xfrm>
            <a:off x="566928" y="2788920"/>
            <a:ext cx="11073384" cy="822960"/>
          </a:xfrm>
          <a:prstGeom prst="roundRect">
            <a:avLst>
              <a:gd name="adj" fmla="val 8889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507" name="Dot"/>
          <p:cNvSpPr/>
          <p:nvPr/>
        </p:nvSpPr>
        <p:spPr>
          <a:xfrm>
            <a:off x="822960" y="3008376"/>
            <a:ext cx="384048" cy="384048"/>
          </a:xfrm>
          <a:prstGeom prst="ellipse">
            <a:avLst/>
          </a:prstGeom>
          <a:solidFill>
            <a:srgbClr val="9B78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8" name="Text"/>
          <p:cNvSpPr/>
          <p:nvPr/>
        </p:nvSpPr>
        <p:spPr>
          <a:xfrm>
            <a:off x="82296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300" b="1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</a:p>
        </p:txBody>
      </p:sp>
      <p:sp>
        <p:nvSpPr>
          <p:cNvPr id="509" name="Text"/>
          <p:cNvSpPr/>
          <p:nvPr/>
        </p:nvSpPr>
        <p:spPr>
          <a:xfrm>
            <a:off x="1517904" y="2807208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 not use it before departure</a:t>
            </a:r>
          </a:p>
        </p:txBody>
      </p:sp>
      <p:sp>
        <p:nvSpPr>
          <p:cNvPr id="510" name="Text"/>
          <p:cNvSpPr/>
          <p:nvPr/>
        </p:nvSpPr>
        <p:spPr>
          <a:xfrm>
            <a:off x="6400800" y="2807208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is a different and much harder problem</a:t>
            </a:r>
          </a:p>
        </p:txBody>
      </p:sp>
      <p:sp>
        <p:nvSpPr>
          <p:cNvPr id="511" name="Card"/>
          <p:cNvSpPr/>
          <p:nvPr/>
        </p:nvSpPr>
        <p:spPr>
          <a:xfrm>
            <a:off x="566928" y="3703320"/>
            <a:ext cx="11073384" cy="822960"/>
          </a:xfrm>
          <a:prstGeom prst="roundRect">
            <a:avLst>
              <a:gd name="adj" fmla="val 8889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512" name="Dot"/>
          <p:cNvSpPr/>
          <p:nvPr/>
        </p:nvSpPr>
        <p:spPr>
          <a:xfrm>
            <a:off x="822960" y="3922776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3" name="Text"/>
          <p:cNvSpPr/>
          <p:nvPr/>
        </p:nvSpPr>
        <p:spPr>
          <a:xfrm>
            <a:off x="82296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300" b="1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</a:p>
        </p:txBody>
      </p:sp>
      <p:sp>
        <p:nvSpPr>
          <p:cNvPr id="514" name="Text"/>
          <p:cNvSpPr/>
          <p:nvPr/>
        </p:nvSpPr>
        <p:spPr>
          <a:xfrm>
            <a:off x="1517904" y="3721607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weather along the route</a:t>
            </a:r>
          </a:p>
        </p:txBody>
      </p:sp>
      <p:sp>
        <p:nvSpPr>
          <p:cNvPr id="515" name="Text"/>
          <p:cNvSpPr/>
          <p:nvPr/>
        </p:nvSpPr>
        <p:spPr>
          <a:xfrm>
            <a:off x="6400800" y="3721607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 air delay is the only real blind spot</a:t>
            </a:r>
          </a:p>
        </p:txBody>
      </p:sp>
      <p:sp>
        <p:nvSpPr>
          <p:cNvPr id="516" name="Card"/>
          <p:cNvSpPr/>
          <p:nvPr/>
        </p:nvSpPr>
        <p:spPr>
          <a:xfrm>
            <a:off x="566928" y="4617720"/>
            <a:ext cx="11073384" cy="822960"/>
          </a:xfrm>
          <a:prstGeom prst="roundRect">
            <a:avLst>
              <a:gd name="adj" fmla="val 8889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517" name="Dot"/>
          <p:cNvSpPr/>
          <p:nvPr/>
        </p:nvSpPr>
        <p:spPr>
          <a:xfrm>
            <a:off x="822960" y="4837176"/>
            <a:ext cx="384048" cy="384048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8" name="Text"/>
          <p:cNvSpPr/>
          <p:nvPr/>
        </p:nvSpPr>
        <p:spPr>
          <a:xfrm>
            <a:off x="822960" y="4837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300" b="1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</a:p>
        </p:txBody>
      </p:sp>
      <p:sp>
        <p:nvSpPr>
          <p:cNvPr id="519" name="Text"/>
          <p:cNvSpPr/>
          <p:nvPr/>
        </p:nvSpPr>
        <p:spPr>
          <a:xfrm>
            <a:off x="1517904" y="4636007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 the linear models</a:t>
            </a:r>
          </a:p>
        </p:txBody>
      </p:sp>
      <p:sp>
        <p:nvSpPr>
          <p:cNvPr id="520" name="Text"/>
          <p:cNvSpPr/>
          <p:nvPr/>
        </p:nvSpPr>
        <p:spPr>
          <a:xfrm>
            <a:off x="6400800" y="4636007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they win on score, speed and interpretability</a:t>
            </a:r>
          </a:p>
        </p:txBody>
      </p:sp>
      <p:sp>
        <p:nvSpPr>
          <p:cNvPr id="521" name="Card"/>
          <p:cNvSpPr/>
          <p:nvPr/>
        </p:nvSpPr>
        <p:spPr>
          <a:xfrm>
            <a:off x="566928" y="5532120"/>
            <a:ext cx="11073384" cy="822960"/>
          </a:xfrm>
          <a:prstGeom prst="roundRect">
            <a:avLst>
              <a:gd name="adj" fmla="val 8889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522" name="Dot"/>
          <p:cNvSpPr/>
          <p:nvPr/>
        </p:nvSpPr>
        <p:spPr>
          <a:xfrm>
            <a:off x="822960" y="5751576"/>
            <a:ext cx="384048" cy="384048"/>
          </a:xfrm>
          <a:prstGeom prst="ellipse">
            <a:avLst/>
          </a:prstGeom>
          <a:solidFill>
            <a:srgbClr val="522C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3" name="Text"/>
          <p:cNvSpPr/>
          <p:nvPr/>
        </p:nvSpPr>
        <p:spPr>
          <a:xfrm>
            <a:off x="822960" y="5751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300" b="1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</a:p>
        </p:txBody>
      </p:sp>
      <p:sp>
        <p:nvSpPr>
          <p:cNvPr id="524" name="Text"/>
          <p:cNvSpPr/>
          <p:nvPr/>
        </p:nvSpPr>
        <p:spPr>
          <a:xfrm>
            <a:off x="1517904" y="5550407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the pre departure version</a:t>
            </a:r>
          </a:p>
        </p:txBody>
      </p:sp>
      <p:sp>
        <p:nvSpPr>
          <p:cNvPr id="525" name="Text"/>
          <p:cNvSpPr/>
          <p:nvPr/>
        </p:nvSpPr>
        <p:spPr>
          <a:xfrm>
            <a:off x="6400800" y="5550407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 the value of waiting is measurable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526" name="Blob"/>
          <p:cNvSpPr/>
          <p:nvPr/>
        </p:nvSpPr>
        <p:spPr>
          <a:xfrm>
            <a:off x="-1371600" y="4206240"/>
            <a:ext cx="4572000" cy="4572000"/>
          </a:xfrm>
          <a:prstGeom prst="ellipse">
            <a:avLst/>
          </a:prstGeom>
          <a:solidFill>
            <a:srgbClr val="9B78F7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7" name="Dot"/>
          <p:cNvSpPr/>
          <p:nvPr/>
        </p:nvSpPr>
        <p:spPr>
          <a:xfrm>
            <a:off x="10607040" y="1051560"/>
            <a:ext cx="566928" cy="56692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8" name="Dot"/>
          <p:cNvSpPr/>
          <p:nvPr/>
        </p:nvSpPr>
        <p:spPr>
          <a:xfrm>
            <a:off x="11430000" y="1783080"/>
            <a:ext cx="310896" cy="310896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9" name="Text"/>
          <p:cNvSpPr/>
          <p:nvPr/>
        </p:nvSpPr>
        <p:spPr>
          <a:xfrm>
            <a:off x="822960" y="9601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WE TOOK AWAY</a:t>
            </a:r>
          </a:p>
        </p:txBody>
      </p:sp>
      <p:sp>
        <p:nvSpPr>
          <p:cNvPr id="530" name="Text"/>
          <p:cNvSpPr/>
          <p:nvPr/>
        </p:nvSpPr>
        <p:spPr>
          <a:xfrm>
            <a:off x="822960" y="141732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framing is the model,</a:t>
            </a:r>
          </a:p>
          <a:p>
            <a:pPr indent="0" marL="0">
              <a:lnSpc>
                <a:spcPts val="4400"/>
              </a:lnSpc>
              <a:buNone/>
            </a:pPr>
            <a:r>
              <a:rPr lang="en-US" sz="38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the algorithm.</a:t>
            </a:r>
          </a:p>
        </p:txBody>
      </p:sp>
      <p:sp>
        <p:nvSpPr>
          <p:cNvPr id="531" name="Card"/>
          <p:cNvSpPr/>
          <p:nvPr/>
        </p:nvSpPr>
        <p:spPr>
          <a:xfrm>
            <a:off x="822960" y="333756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532" name="Dot"/>
          <p:cNvSpPr/>
          <p:nvPr/>
        </p:nvSpPr>
        <p:spPr>
          <a:xfrm>
            <a:off x="1060704" y="3602736"/>
            <a:ext cx="137160" cy="137160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3" name="Text"/>
          <p:cNvSpPr/>
          <p:nvPr/>
        </p:nvSpPr>
        <p:spPr>
          <a:xfrm>
            <a:off x="1325880" y="350215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Hardest</a:t>
            </a:r>
          </a:p>
        </p:txBody>
      </p:sp>
      <p:sp>
        <p:nvSpPr>
          <p:cNvPr id="534" name="Text"/>
          <p:cNvSpPr/>
          <p:nvPr/>
        </p:nvSpPr>
        <p:spPr>
          <a:xfrm>
            <a:off x="1060704" y="3968496"/>
            <a:ext cx="2788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deciding exactly when now is, TaxiOut sits on the line</a:t>
            </a:r>
          </a:p>
        </p:txBody>
      </p:sp>
      <p:sp>
        <p:nvSpPr>
          <p:cNvPr id="535" name="Card"/>
          <p:cNvSpPr/>
          <p:nvPr/>
        </p:nvSpPr>
        <p:spPr>
          <a:xfrm>
            <a:off x="4434840" y="333756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536" name="Dot"/>
          <p:cNvSpPr/>
          <p:nvPr/>
        </p:nvSpPr>
        <p:spPr>
          <a:xfrm>
            <a:off x="4672583" y="3602736"/>
            <a:ext cx="137160" cy="137160"/>
          </a:xfrm>
          <a:prstGeom prst="ellipse">
            <a:avLst/>
          </a:prstGeom>
          <a:solidFill>
            <a:srgbClr val="F4A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7" name="Text"/>
          <p:cNvSpPr/>
          <p:nvPr/>
        </p:nvSpPr>
        <p:spPr>
          <a:xfrm>
            <a:off x="4937759" y="350215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 judgement</a:t>
            </a:r>
          </a:p>
        </p:txBody>
      </p:sp>
      <p:sp>
        <p:nvSpPr>
          <p:cNvPr id="538" name="Text"/>
          <p:cNvSpPr/>
          <p:nvPr/>
        </p:nvSpPr>
        <p:spPr>
          <a:xfrm>
            <a:off x="4672583" y="3968496"/>
            <a:ext cx="2788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keeping the outliers, they are the whole point</a:t>
            </a:r>
          </a:p>
        </p:txBody>
      </p:sp>
      <p:sp>
        <p:nvSpPr>
          <p:cNvPr id="539" name="Card"/>
          <p:cNvSpPr/>
          <p:nvPr/>
        </p:nvSpPr>
        <p:spPr>
          <a:xfrm>
            <a:off x="8046720" y="333756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  <a:effectLst>
            <a:outerShdw sx="100000" sy="100000" kx="0" ky="0" algn="bl" rotWithShape="0" blurRad="114300" dist="12700" dir="5400000">
              <a:srgbClr val="B9A9E8">
                <a:alpha val="30000"/>
              </a:srgbClr>
            </a:outerShdw>
          </a:effectLst>
        </p:spPr>
      </p:sp>
      <p:sp>
        <p:nvSpPr>
          <p:cNvPr id="540" name="Dot"/>
          <p:cNvSpPr/>
          <p:nvPr/>
        </p:nvSpPr>
        <p:spPr>
          <a:xfrm>
            <a:off x="8284464" y="3602736"/>
            <a:ext cx="137160" cy="137160"/>
          </a:xfrm>
          <a:prstGeom prst="ellipse">
            <a:avLst/>
          </a:prstGeom>
          <a:solidFill>
            <a:srgbClr val="57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1" name="Text"/>
          <p:cNvSpPr/>
          <p:nvPr/>
        </p:nvSpPr>
        <p:spPr>
          <a:xfrm>
            <a:off x="8549640" y="350215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 time</a:t>
            </a:r>
          </a:p>
        </p:txBody>
      </p:sp>
      <p:sp>
        <p:nvSpPr>
          <p:cNvPr id="542" name="Text"/>
          <p:cNvSpPr/>
          <p:nvPr/>
        </p:nvSpPr>
        <p:spPr>
          <a:xfrm>
            <a:off x="8284464" y="3968496"/>
            <a:ext cx="2788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kern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the pre departure model side by side</a:t>
            </a:r>
          </a:p>
        </p:txBody>
      </p:sp>
      <p:sp>
        <p:nvSpPr>
          <p:cNvPr id="543" name="Text"/>
          <p:cNvSpPr/>
          <p:nvPr/>
        </p:nvSpPr>
        <p:spPr>
          <a:xfrm>
            <a:off x="822960" y="5504688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kern="0" dirty="0">
                <a:solidFill>
                  <a:srgbClr val="522C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Thank you</a:t>
            </a:r>
          </a:p>
        </p:txBody>
      </p:sp>
      <p:sp>
        <p:nvSpPr>
          <p:cNvPr id="544" name="Text"/>
          <p:cNvSpPr/>
          <p:nvPr/>
        </p:nvSpPr>
        <p:spPr>
          <a:xfrm>
            <a:off x="822960" y="596188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9B78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Khalid Al Dosari  ·  Abdulaziz Alshareef  ·  Anas Alzahrani  ·  Feras Madkhali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Airbnb Listings: Exploratory Data Analysis</dc:title>
  <dc:subject>PptxGenJS Presentation</dc:subject>
  <dc:creator>Khalid Al Dosari</dc:creator>
  <cp:lastModifiedBy>Khalid Al Dosari</cp:lastModifiedBy>
  <cp:revision>1</cp:revision>
  <dcterms:created xsi:type="dcterms:W3CDTF">2026-07-30T14:13:04Z</dcterms:created>
  <dcterms:modified xsi:type="dcterms:W3CDTF">2026-07-30T14:13:04Z</dcterms:modified>
</cp:coreProperties>
</file>