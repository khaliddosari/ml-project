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York City Airbnb. 48,895 listings across all five boroughs from 2019. My question was simple. What actually sets the price of a listing? The first half covers the data quality problems I had to fix before I could trust anything. The second half covers what the cleaned data showed.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one listing. It carries the host and the location and the price and the review history. Ten numeric columns. Two of them are identifiers rather than measurements. There is no target variable here. This is an unlabelled market snapshot. Price is what you would predict if you modelled it. One flag up front. A fifth of listings have never been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problems and six decisions. Two are worth pausing on. Number two. Pandas said zero duplicates. That only means no two rows are identical across all sixteen columns. Define a duplicate the way the business would. Same host at the same coordinates at the same price. Then 217 appear. Number six. Those 1,250 night minimums are not errors. The listing names say things like not available. Hosts are faking a pause button. So I capped rather than deleted. The value is a signal about host behaviour and not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column except availability is full of outliers. But an outlier is not the same as an error. A ten thousand dollar penthouse is a real listing. A host with 327 properties is a real business. So I kept all of them and capped only minimum nights. That was the one case where the value was logically impossible rather than merely extreme.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distribution leans right. The gap between the mean of 152 and the median of 105 is the whole story. Quoting the average overstates what a normal guest actually pays by nearly fifty dollars. The median is the honest number. Availability is the interesting exception. It is bimodal and clusters at zero days and at 365. Hosts are either fully committed or effectively dormant with very little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categorical columns are imbalanced. Shared rooms are two percent of supply. Manhattan and Brooklyn together are eighty five percent. And they interact. Manhattan skews to entire homes while the outer boroughs skew to private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most interesting finding for me. I expected review volume or availability to move with price. They do not. Every correlation with price is under 0.08 in absolute terms and that is effectively zero. The scatter plots confirm it with no visible structure. Price in this market is simply not explained by how busy a listing is. It is location and room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is capped at a thousand on the left. Otherwise a few luxury listings flatten everything. Most of the market sits under two hundred. The right hand chart splits by borough. Manhattan at 196 against the Bronx at 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type is the sharpest divide in the data. An entire home is 211 and a private room is 90. Two and a half times over for privacy. The right hand chart is a negative result. Reviews and availability are unrelated.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221 neighbourhoods but listings pile into a handful. Practically that means high cardinality and imbalance. Most neighbourhoods have too few listings to estimate a price. So you group the tail or fall back to borough.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Location and room type set the price and nothing else comes close. The median is the honest number to quote rather than the mean. Activity metrics are not a pricing signal at all. Two structural findings are worth flagging. A fifth of all listings have never been reviewed. And professional operators running hundreds of units now sit alongside the median host who runs exactly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recommendations and each one is traceable to a finding. Pricing guidance drops the useless features. The badge closes the review gap. The pause toggle fixes a behaviour the data caught. Duplicate flagging closes the gap that let 217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The duplicates were hardest because there was no key. I had to define what counts as the same listing. My best judgement was keeping the impossible minimum nights values. Reading the listing names turned dirt into a finding.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18320" y="-1554480"/>
            <a:ext cx="4480560" cy="4480560"/>
          </a:xfrm>
          <a:prstGeom prst="ellipse">
            <a:avLst/>
          </a:prstGeom>
          <a:solidFill>
            <a:srgbClr val="9B78F7">
              <a:alpha val="22000"/>
            </a:srgbClr>
          </a:solidFill>
          <a:ln w="12700">
            <a:solidFill>
              <a:srgbClr val="333333"/>
            </a:solidFill>
            <a:prstDash val="solid"/>
          </a:ln>
        </p:spPr>
      </p:sp>
      <p:sp>
        <p:nvSpPr>
          <p:cNvPr id="3" name="Shape 1"/>
          <p:cNvSpPr/>
          <p:nvPr/>
        </p:nvSpPr>
        <p:spPr>
          <a:xfrm>
            <a:off x="10972800" y="4572000"/>
            <a:ext cx="2377440" cy="2377440"/>
          </a:xfrm>
          <a:prstGeom prst="ellipse">
            <a:avLst/>
          </a:prstGeom>
          <a:solidFill>
            <a:srgbClr val="522CBA">
              <a:alpha val="14000"/>
            </a:srgbClr>
          </a:solidFill>
          <a:ln w="12700">
            <a:solidFill>
              <a:srgbClr val="333333"/>
            </a:solidFill>
            <a:prstDash val="solid"/>
          </a:ln>
        </p:spPr>
      </p:sp>
      <p:sp>
        <p:nvSpPr>
          <p:cNvPr id="4" name="Shape 2"/>
          <p:cNvSpPr/>
          <p:nvPr/>
        </p:nvSpPr>
        <p:spPr>
          <a:xfrm>
            <a:off x="10104120" y="2788920"/>
            <a:ext cx="457200" cy="457200"/>
          </a:xfrm>
          <a:prstGeom prst="ellipse">
            <a:avLst/>
          </a:prstGeom>
          <a:solidFill>
            <a:srgbClr val="57E3D8"/>
          </a:solidFill>
          <a:ln w="12700">
            <a:solidFill>
              <a:srgbClr val="333333"/>
            </a:solidFill>
            <a:prstDash val="solid"/>
          </a:ln>
        </p:spPr>
      </p:sp>
      <p:sp>
        <p:nvSpPr>
          <p:cNvPr id="5" name="Shape 3"/>
          <p:cNvSpPr/>
          <p:nvPr/>
        </p:nvSpPr>
        <p:spPr>
          <a:xfrm>
            <a:off x="10927080" y="3310128"/>
            <a:ext cx="274320" cy="274320"/>
          </a:xfrm>
          <a:prstGeom prst="ellipse">
            <a:avLst/>
          </a:prstGeom>
          <a:solidFill>
            <a:srgbClr val="F4A664"/>
          </a:solidFill>
          <a:ln w="12700">
            <a:solidFill>
              <a:srgbClr val="333333"/>
            </a:solidFill>
            <a:prstDash val="solid"/>
          </a:ln>
        </p:spPr>
      </p:sp>
      <p:sp>
        <p:nvSpPr>
          <p:cNvPr id="6" name="Text 4"/>
          <p:cNvSpPr/>
          <p:nvPr/>
        </p:nvSpPr>
        <p:spPr>
          <a:xfrm>
            <a:off x="822960" y="1691640"/>
            <a:ext cx="8229600" cy="310896"/>
          </a:xfrm>
          <a:prstGeom prst="rect">
            <a:avLst/>
          </a:prstGeom>
          <a:noFill/>
          <a:ln/>
        </p:spPr>
        <p:txBody>
          <a:bodyPr wrap="square" lIns="0" tIns="0" rIns="0" bIns="0" rtlCol="0" anchor="ctr"/>
          <a:lstStyle/>
          <a:p>
            <a:pPr indent="0" marL="0">
              <a:buNone/>
            </a:pPr>
            <a:r>
              <a:rPr lang="en-US" sz="1300" b="1" spc="300" kern="0" dirty="0">
                <a:solidFill>
                  <a:srgbClr val="9B78F7"/>
                </a:solidFill>
                <a:latin typeface="IBM Plex Sans" pitchFamily="34" charset="0"/>
                <a:ea typeface="IBM Plex Sans" pitchFamily="34" charset="-122"/>
                <a:cs typeface="IBM Plex Sans" pitchFamily="34" charset="-120"/>
              </a:rPr>
              <a:t>EXPLORATORY DATA ANALYSIS</a:t>
            </a:r>
            <a:endParaRPr lang="en-US" sz="1300" dirty="0"/>
          </a:p>
        </p:txBody>
      </p:sp>
      <p:sp>
        <p:nvSpPr>
          <p:cNvPr id="7" name="Text 5"/>
          <p:cNvSpPr/>
          <p:nvPr/>
        </p:nvSpPr>
        <p:spPr>
          <a:xfrm>
            <a:off x="822960" y="2103120"/>
            <a:ext cx="8595360" cy="1737360"/>
          </a:xfrm>
          <a:prstGeom prst="rect">
            <a:avLst/>
          </a:prstGeom>
          <a:noFill/>
          <a:ln/>
        </p:spPr>
        <p:txBody>
          <a:bodyPr wrap="square" lIns="0" tIns="0" rIns="0" bIns="0" rtlCol="0" anchor="ctr"/>
          <a:lstStyle/>
          <a:p>
            <a:pPr indent="0" marL="0">
              <a:lnSpc>
                <a:spcPts val="5200"/>
              </a:lnSpc>
              <a:buNone/>
            </a:pPr>
            <a:r>
              <a:rPr lang="en-US" sz="4600" b="1" dirty="0">
                <a:solidFill>
                  <a:srgbClr val="522CBA"/>
                </a:solidFill>
                <a:latin typeface="IBM Plex Sans" pitchFamily="34" charset="0"/>
                <a:ea typeface="IBM Plex Sans" pitchFamily="34" charset="-122"/>
                <a:cs typeface="IBM Plex Sans" pitchFamily="34" charset="-120"/>
              </a:rPr>
              <a:t>New York City</a:t>
            </a:r>
            <a:endParaRPr lang="en-US" sz="4600" dirty="0"/>
          </a:p>
          <a:p>
            <a:pPr indent="0" marL="0">
              <a:lnSpc>
                <a:spcPts val="5200"/>
              </a:lnSpc>
              <a:buNone/>
            </a:pPr>
            <a:r>
              <a:rPr lang="en-US" sz="4600" b="1" dirty="0">
                <a:solidFill>
                  <a:srgbClr val="522CBA"/>
                </a:solidFill>
                <a:latin typeface="IBM Plex Sans" pitchFamily="34" charset="0"/>
                <a:ea typeface="IBM Plex Sans" pitchFamily="34" charset="-122"/>
                <a:cs typeface="IBM Plex Sans" pitchFamily="34" charset="-120"/>
              </a:rPr>
              <a:t>Airbnb Listings</a:t>
            </a:r>
            <a:endParaRPr lang="en-US" sz="4600" dirty="0"/>
          </a:p>
        </p:txBody>
      </p:sp>
      <p:sp>
        <p:nvSpPr>
          <p:cNvPr id="8" name="Text 6"/>
          <p:cNvSpPr/>
          <p:nvPr/>
        </p:nvSpPr>
        <p:spPr>
          <a:xfrm>
            <a:off x="822960" y="3968496"/>
            <a:ext cx="8046720" cy="365760"/>
          </a:xfrm>
          <a:prstGeom prst="rect">
            <a:avLst/>
          </a:prstGeom>
          <a:noFill/>
          <a:ln/>
        </p:spPr>
        <p:txBody>
          <a:bodyPr wrap="square" lIns="0" tIns="0" rIns="0" bIns="0" rtlCol="0" anchor="ctr"/>
          <a:lstStyle/>
          <a:p>
            <a:pPr indent="0" marL="0">
              <a:buNone/>
            </a:pPr>
            <a:r>
              <a:rPr lang="en-US" sz="1700" i="1" dirty="0">
                <a:solidFill>
                  <a:srgbClr val="000000"/>
                </a:solidFill>
                <a:latin typeface="IBM Plex Sans" pitchFamily="34" charset="0"/>
                <a:ea typeface="IBM Plex Sans" pitchFamily="34" charset="-122"/>
                <a:cs typeface="IBM Plex Sans" pitchFamily="34" charset="-120"/>
              </a:rPr>
              <a:t>What drives the price of a bed for the night?</a:t>
            </a:r>
            <a:endParaRPr lang="en-US" sz="1700" dirty="0"/>
          </a:p>
        </p:txBody>
      </p:sp>
      <p:sp>
        <p:nvSpPr>
          <p:cNvPr id="9" name="Shape 7"/>
          <p:cNvSpPr/>
          <p:nvPr/>
        </p:nvSpPr>
        <p:spPr>
          <a:xfrm>
            <a:off x="822960" y="4754880"/>
            <a:ext cx="118872" cy="118872"/>
          </a:xfrm>
          <a:prstGeom prst="ellipse">
            <a:avLst/>
          </a:prstGeom>
          <a:solidFill>
            <a:srgbClr val="57E3D8"/>
          </a:solidFill>
          <a:ln w="12700">
            <a:solidFill>
              <a:srgbClr val="333333"/>
            </a:solidFill>
            <a:prstDash val="solid"/>
          </a:ln>
        </p:spPr>
      </p:sp>
      <p:sp>
        <p:nvSpPr>
          <p:cNvPr id="10" name="Text 8"/>
          <p:cNvSpPr/>
          <p:nvPr/>
        </p:nvSpPr>
        <p:spPr>
          <a:xfrm>
            <a:off x="822960" y="4956048"/>
            <a:ext cx="1965960" cy="475488"/>
          </a:xfrm>
          <a:prstGeom prst="rect">
            <a:avLst/>
          </a:prstGeom>
          <a:noFill/>
          <a:ln/>
        </p:spPr>
        <p:txBody>
          <a:bodyPr wrap="square" lIns="0" tIns="0" rIns="0" bIns="0" rtlCol="0" anchor="ctr"/>
          <a:lstStyle/>
          <a:p>
            <a:pPr indent="0" marL="0">
              <a:buNone/>
            </a:pPr>
            <a:r>
              <a:rPr lang="en-US" sz="2600" b="1" dirty="0">
                <a:solidFill>
                  <a:srgbClr val="9B78F7"/>
                </a:solidFill>
                <a:latin typeface="IBM Plex Sans" pitchFamily="34" charset="0"/>
                <a:ea typeface="IBM Plex Sans" pitchFamily="34" charset="-122"/>
                <a:cs typeface="IBM Plex Sans" pitchFamily="34" charset="-120"/>
              </a:rPr>
              <a:t>48,895</a:t>
            </a:r>
            <a:endParaRPr lang="en-US" sz="2600" dirty="0"/>
          </a:p>
        </p:txBody>
      </p:sp>
      <p:sp>
        <p:nvSpPr>
          <p:cNvPr id="11" name="Text 9"/>
          <p:cNvSpPr/>
          <p:nvPr/>
        </p:nvSpPr>
        <p:spPr>
          <a:xfrm>
            <a:off x="822960" y="5440680"/>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listings</a:t>
            </a:r>
            <a:endParaRPr lang="en-US" sz="1200" dirty="0"/>
          </a:p>
        </p:txBody>
      </p:sp>
      <p:sp>
        <p:nvSpPr>
          <p:cNvPr id="12" name="Shape 10"/>
          <p:cNvSpPr/>
          <p:nvPr/>
        </p:nvSpPr>
        <p:spPr>
          <a:xfrm>
            <a:off x="2971800" y="4754880"/>
            <a:ext cx="118872" cy="118872"/>
          </a:xfrm>
          <a:prstGeom prst="ellipse">
            <a:avLst/>
          </a:prstGeom>
          <a:solidFill>
            <a:srgbClr val="F4A664"/>
          </a:solidFill>
          <a:ln w="12700">
            <a:solidFill>
              <a:srgbClr val="333333"/>
            </a:solidFill>
            <a:prstDash val="solid"/>
          </a:ln>
        </p:spPr>
      </p:sp>
      <p:sp>
        <p:nvSpPr>
          <p:cNvPr id="13" name="Text 11"/>
          <p:cNvSpPr/>
          <p:nvPr/>
        </p:nvSpPr>
        <p:spPr>
          <a:xfrm>
            <a:off x="2971800" y="4956048"/>
            <a:ext cx="1965960" cy="475488"/>
          </a:xfrm>
          <a:prstGeom prst="rect">
            <a:avLst/>
          </a:prstGeom>
          <a:noFill/>
          <a:ln/>
        </p:spPr>
        <p:txBody>
          <a:bodyPr wrap="square" lIns="0" tIns="0" rIns="0" bIns="0" rtlCol="0" anchor="ctr"/>
          <a:lstStyle/>
          <a:p>
            <a:pPr indent="0" marL="0">
              <a:buNone/>
            </a:pPr>
            <a:r>
              <a:rPr lang="en-US" sz="2600" b="1" dirty="0">
                <a:solidFill>
                  <a:srgbClr val="9B78F7"/>
                </a:solidFill>
                <a:latin typeface="IBM Plex Sans" pitchFamily="34" charset="0"/>
                <a:ea typeface="IBM Plex Sans" pitchFamily="34" charset="-122"/>
                <a:cs typeface="IBM Plex Sans" pitchFamily="34" charset="-120"/>
              </a:rPr>
              <a:t>5</a:t>
            </a:r>
            <a:endParaRPr lang="en-US" sz="2600" dirty="0"/>
          </a:p>
        </p:txBody>
      </p:sp>
      <p:sp>
        <p:nvSpPr>
          <p:cNvPr id="14" name="Text 12"/>
          <p:cNvSpPr/>
          <p:nvPr/>
        </p:nvSpPr>
        <p:spPr>
          <a:xfrm>
            <a:off x="2971800" y="5440680"/>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boroughs</a:t>
            </a:r>
            <a:endParaRPr lang="en-US" sz="1200" dirty="0"/>
          </a:p>
        </p:txBody>
      </p:sp>
      <p:sp>
        <p:nvSpPr>
          <p:cNvPr id="15" name="Shape 13"/>
          <p:cNvSpPr/>
          <p:nvPr/>
        </p:nvSpPr>
        <p:spPr>
          <a:xfrm>
            <a:off x="5120640" y="4754880"/>
            <a:ext cx="118872" cy="118872"/>
          </a:xfrm>
          <a:prstGeom prst="ellipse">
            <a:avLst/>
          </a:prstGeom>
          <a:solidFill>
            <a:srgbClr val="57E3D8"/>
          </a:solidFill>
          <a:ln w="12700">
            <a:solidFill>
              <a:srgbClr val="333333"/>
            </a:solidFill>
            <a:prstDash val="solid"/>
          </a:ln>
        </p:spPr>
      </p:sp>
      <p:sp>
        <p:nvSpPr>
          <p:cNvPr id="16" name="Text 14"/>
          <p:cNvSpPr/>
          <p:nvPr/>
        </p:nvSpPr>
        <p:spPr>
          <a:xfrm>
            <a:off x="5120640" y="4956048"/>
            <a:ext cx="1965960" cy="475488"/>
          </a:xfrm>
          <a:prstGeom prst="rect">
            <a:avLst/>
          </a:prstGeom>
          <a:noFill/>
          <a:ln/>
        </p:spPr>
        <p:txBody>
          <a:bodyPr wrap="square" lIns="0" tIns="0" rIns="0" bIns="0" rtlCol="0" anchor="ctr"/>
          <a:lstStyle/>
          <a:p>
            <a:pPr indent="0" marL="0">
              <a:buNone/>
            </a:pPr>
            <a:r>
              <a:rPr lang="en-US" sz="2600" b="1" dirty="0">
                <a:solidFill>
                  <a:srgbClr val="9B78F7"/>
                </a:solidFill>
                <a:latin typeface="IBM Plex Sans" pitchFamily="34" charset="0"/>
                <a:ea typeface="IBM Plex Sans" pitchFamily="34" charset="-122"/>
                <a:cs typeface="IBM Plex Sans" pitchFamily="34" charset="-120"/>
              </a:rPr>
              <a:t>221</a:t>
            </a:r>
            <a:endParaRPr lang="en-US" sz="2600" dirty="0"/>
          </a:p>
        </p:txBody>
      </p:sp>
      <p:sp>
        <p:nvSpPr>
          <p:cNvPr id="17" name="Text 15"/>
          <p:cNvSpPr/>
          <p:nvPr/>
        </p:nvSpPr>
        <p:spPr>
          <a:xfrm>
            <a:off x="5120640" y="5440680"/>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neighbourhoods</a:t>
            </a:r>
            <a:endParaRPr lang="en-US" sz="1200" dirty="0"/>
          </a:p>
        </p:txBody>
      </p:sp>
      <p:sp>
        <p:nvSpPr>
          <p:cNvPr id="18" name="Shape 16"/>
          <p:cNvSpPr/>
          <p:nvPr/>
        </p:nvSpPr>
        <p:spPr>
          <a:xfrm>
            <a:off x="7269480" y="4754880"/>
            <a:ext cx="118872" cy="118872"/>
          </a:xfrm>
          <a:prstGeom prst="ellipse">
            <a:avLst/>
          </a:prstGeom>
          <a:solidFill>
            <a:srgbClr val="F4A664"/>
          </a:solidFill>
          <a:ln w="12700">
            <a:solidFill>
              <a:srgbClr val="333333"/>
            </a:solidFill>
            <a:prstDash val="solid"/>
          </a:ln>
        </p:spPr>
      </p:sp>
      <p:sp>
        <p:nvSpPr>
          <p:cNvPr id="19" name="Text 17"/>
          <p:cNvSpPr/>
          <p:nvPr/>
        </p:nvSpPr>
        <p:spPr>
          <a:xfrm>
            <a:off x="7269480" y="4956048"/>
            <a:ext cx="1965960" cy="475488"/>
          </a:xfrm>
          <a:prstGeom prst="rect">
            <a:avLst/>
          </a:prstGeom>
          <a:noFill/>
          <a:ln/>
        </p:spPr>
        <p:txBody>
          <a:bodyPr wrap="square" lIns="0" tIns="0" rIns="0" bIns="0" rtlCol="0" anchor="ctr"/>
          <a:lstStyle/>
          <a:p>
            <a:pPr indent="0" marL="0">
              <a:buNone/>
            </a:pPr>
            <a:r>
              <a:rPr lang="en-US" sz="2600" b="1" dirty="0">
                <a:solidFill>
                  <a:srgbClr val="9B78F7"/>
                </a:solidFill>
                <a:latin typeface="IBM Plex Sans" pitchFamily="34" charset="0"/>
                <a:ea typeface="IBM Plex Sans" pitchFamily="34" charset="-122"/>
                <a:cs typeface="IBM Plex Sans" pitchFamily="34" charset="-120"/>
              </a:rPr>
              <a:t>16</a:t>
            </a:r>
            <a:endParaRPr lang="en-US" sz="2600" dirty="0"/>
          </a:p>
        </p:txBody>
      </p:sp>
      <p:sp>
        <p:nvSpPr>
          <p:cNvPr id="20" name="Text 18"/>
          <p:cNvSpPr/>
          <p:nvPr/>
        </p:nvSpPr>
        <p:spPr>
          <a:xfrm>
            <a:off x="7269480" y="5440680"/>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columns</a:t>
            </a:r>
            <a:endParaRPr lang="en-US" sz="1200" dirty="0"/>
          </a:p>
        </p:txBody>
      </p:sp>
      <p:sp>
        <p:nvSpPr>
          <p:cNvPr id="21" name="Text 19"/>
          <p:cNvSpPr/>
          <p:nvPr/>
        </p:nvSpPr>
        <p:spPr>
          <a:xfrm>
            <a:off x="822960" y="6053328"/>
            <a:ext cx="8229600" cy="292608"/>
          </a:xfrm>
          <a:prstGeom prst="rect">
            <a:avLst/>
          </a:prstGeom>
          <a:noFill/>
          <a:ln/>
        </p:spPr>
        <p:txBody>
          <a:bodyPr wrap="square" lIns="0" tIns="0" rIns="0" bIns="0" rtlCol="0" anchor="ctr"/>
          <a:lstStyle/>
          <a:p>
            <a:pPr indent="0" marL="0">
              <a:buNone/>
            </a:pPr>
            <a:r>
              <a:rPr lang="en-US" sz="1300" b="1" dirty="0">
                <a:solidFill>
                  <a:srgbClr val="522CBA"/>
                </a:solidFill>
                <a:latin typeface="IBM Plex Sans" pitchFamily="34" charset="0"/>
                <a:ea typeface="IBM Plex Sans" pitchFamily="34" charset="-122"/>
                <a:cs typeface="IBM Plex Sans" pitchFamily="34" charset="-120"/>
              </a:rPr>
              <a:t>Khalid Al Dosari  ·  Tuwaiq Bootcamp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The data</a:t>
            </a:r>
            <a:endParaRPr lang="en-US" sz="3400" dirty="0"/>
          </a:p>
        </p:txBody>
      </p:sp>
      <p:sp>
        <p:nvSpPr>
          <p:cNvPr id="3" name="Shape 1"/>
          <p:cNvSpPr/>
          <p:nvPr/>
        </p:nvSpPr>
        <p:spPr>
          <a:xfrm>
            <a:off x="585216" y="1138428"/>
            <a:ext cx="146304" cy="146304"/>
          </a:xfrm>
          <a:prstGeom prst="ellipse">
            <a:avLst/>
          </a:prstGeom>
          <a:solidFill>
            <a:srgbClr val="57E3D8"/>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One row is one listing</a:t>
            </a:r>
            <a:endParaRPr lang="en-US" sz="1500" dirty="0"/>
          </a:p>
        </p:txBody>
      </p:sp>
      <p:sp>
        <p:nvSpPr>
          <p:cNvPr id="5" name="Shape 3"/>
          <p:cNvSpPr/>
          <p:nvPr/>
        </p:nvSpPr>
        <p:spPr>
          <a:xfrm>
            <a:off x="566928"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6" name="Shape 4"/>
          <p:cNvSpPr/>
          <p:nvPr/>
        </p:nvSpPr>
        <p:spPr>
          <a:xfrm>
            <a:off x="2852928" y="1773936"/>
            <a:ext cx="146304" cy="146304"/>
          </a:xfrm>
          <a:prstGeom prst="ellipse">
            <a:avLst/>
          </a:prstGeom>
          <a:solidFill>
            <a:srgbClr val="57E3D8"/>
          </a:solidFill>
          <a:ln w="12700">
            <a:solidFill>
              <a:srgbClr val="333333"/>
            </a:solidFill>
            <a:prstDash val="solid"/>
          </a:ln>
        </p:spPr>
      </p:sp>
      <p:sp>
        <p:nvSpPr>
          <p:cNvPr id="7" name="Text 5"/>
          <p:cNvSpPr/>
          <p:nvPr/>
        </p:nvSpPr>
        <p:spPr>
          <a:xfrm>
            <a:off x="768096" y="1773936"/>
            <a:ext cx="2011680" cy="512064"/>
          </a:xfrm>
          <a:prstGeom prst="rect">
            <a:avLst/>
          </a:prstGeom>
          <a:noFill/>
          <a:ln/>
        </p:spPr>
        <p:txBody>
          <a:bodyPr wrap="square" lIns="0" tIns="0" rIns="0" bIns="0" rtlCol="0" anchor="ctr"/>
          <a:lstStyle/>
          <a:p>
            <a:pPr indent="0" marL="0">
              <a:buNone/>
            </a:pPr>
            <a:r>
              <a:rPr lang="en-US" sz="2400" b="1" dirty="0">
                <a:solidFill>
                  <a:srgbClr val="522CBA"/>
                </a:solidFill>
                <a:latin typeface="IBM Plex Sans" pitchFamily="34" charset="0"/>
                <a:ea typeface="IBM Plex Sans" pitchFamily="34" charset="-122"/>
                <a:cs typeface="IBM Plex Sans" pitchFamily="34" charset="-120"/>
              </a:rPr>
              <a:t>48,895</a:t>
            </a:r>
            <a:endParaRPr lang="en-US" sz="2400" dirty="0"/>
          </a:p>
        </p:txBody>
      </p:sp>
      <p:sp>
        <p:nvSpPr>
          <p:cNvPr id="8" name="Text 6"/>
          <p:cNvSpPr/>
          <p:nvPr/>
        </p:nvSpPr>
        <p:spPr>
          <a:xfrm>
            <a:off x="768096"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rows</a:t>
            </a:r>
            <a:endParaRPr lang="en-US" sz="1300" dirty="0"/>
          </a:p>
        </p:txBody>
      </p:sp>
      <p:sp>
        <p:nvSpPr>
          <p:cNvPr id="9" name="Shape 7"/>
          <p:cNvSpPr/>
          <p:nvPr/>
        </p:nvSpPr>
        <p:spPr>
          <a:xfrm>
            <a:off x="3392424"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0" name="Shape 8"/>
          <p:cNvSpPr/>
          <p:nvPr/>
        </p:nvSpPr>
        <p:spPr>
          <a:xfrm>
            <a:off x="5678424" y="1773936"/>
            <a:ext cx="146304" cy="146304"/>
          </a:xfrm>
          <a:prstGeom prst="ellipse">
            <a:avLst/>
          </a:prstGeom>
          <a:solidFill>
            <a:srgbClr val="F4A664"/>
          </a:solidFill>
          <a:ln w="12700">
            <a:solidFill>
              <a:srgbClr val="333333"/>
            </a:solidFill>
            <a:prstDash val="solid"/>
          </a:ln>
        </p:spPr>
      </p:sp>
      <p:sp>
        <p:nvSpPr>
          <p:cNvPr id="11" name="Text 9"/>
          <p:cNvSpPr/>
          <p:nvPr/>
        </p:nvSpPr>
        <p:spPr>
          <a:xfrm>
            <a:off x="3593592" y="1773936"/>
            <a:ext cx="2011680" cy="512064"/>
          </a:xfrm>
          <a:prstGeom prst="rect">
            <a:avLst/>
          </a:prstGeom>
          <a:noFill/>
          <a:ln/>
        </p:spPr>
        <p:txBody>
          <a:bodyPr wrap="square" lIns="0" tIns="0" rIns="0" bIns="0" rtlCol="0" anchor="ctr"/>
          <a:lstStyle/>
          <a:p>
            <a:pPr indent="0" marL="0">
              <a:buNone/>
            </a:pPr>
            <a:r>
              <a:rPr lang="en-US" sz="2400" b="1" dirty="0">
                <a:solidFill>
                  <a:srgbClr val="522CBA"/>
                </a:solidFill>
                <a:latin typeface="IBM Plex Sans" pitchFamily="34" charset="0"/>
                <a:ea typeface="IBM Plex Sans" pitchFamily="34" charset="-122"/>
                <a:cs typeface="IBM Plex Sans" pitchFamily="34" charset="-120"/>
              </a:rPr>
              <a:t>16</a:t>
            </a:r>
            <a:endParaRPr lang="en-US" sz="2400" dirty="0"/>
          </a:p>
        </p:txBody>
      </p:sp>
      <p:sp>
        <p:nvSpPr>
          <p:cNvPr id="12" name="Text 10"/>
          <p:cNvSpPr/>
          <p:nvPr/>
        </p:nvSpPr>
        <p:spPr>
          <a:xfrm>
            <a:off x="3593592"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columns</a:t>
            </a:r>
            <a:endParaRPr lang="en-US" sz="1300" dirty="0"/>
          </a:p>
        </p:txBody>
      </p:sp>
      <p:sp>
        <p:nvSpPr>
          <p:cNvPr id="13" name="Shape 11"/>
          <p:cNvSpPr/>
          <p:nvPr/>
        </p:nvSpPr>
        <p:spPr>
          <a:xfrm>
            <a:off x="6217920"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4" name="Shape 12"/>
          <p:cNvSpPr/>
          <p:nvPr/>
        </p:nvSpPr>
        <p:spPr>
          <a:xfrm>
            <a:off x="8503920" y="1773936"/>
            <a:ext cx="146304" cy="146304"/>
          </a:xfrm>
          <a:prstGeom prst="ellipse">
            <a:avLst/>
          </a:prstGeom>
          <a:solidFill>
            <a:srgbClr val="57E3D8"/>
          </a:solidFill>
          <a:ln w="12700">
            <a:solidFill>
              <a:srgbClr val="333333"/>
            </a:solidFill>
            <a:prstDash val="solid"/>
          </a:ln>
        </p:spPr>
      </p:sp>
      <p:sp>
        <p:nvSpPr>
          <p:cNvPr id="15" name="Text 13"/>
          <p:cNvSpPr/>
          <p:nvPr/>
        </p:nvSpPr>
        <p:spPr>
          <a:xfrm>
            <a:off x="6419088" y="1773936"/>
            <a:ext cx="2011680" cy="512064"/>
          </a:xfrm>
          <a:prstGeom prst="rect">
            <a:avLst/>
          </a:prstGeom>
          <a:noFill/>
          <a:ln/>
        </p:spPr>
        <p:txBody>
          <a:bodyPr wrap="square" lIns="0" tIns="0" rIns="0" bIns="0" rtlCol="0" anchor="ctr"/>
          <a:lstStyle/>
          <a:p>
            <a:pPr indent="0" marL="0">
              <a:buNone/>
            </a:pPr>
            <a:r>
              <a:rPr lang="en-US" sz="2400" b="1" dirty="0">
                <a:solidFill>
                  <a:srgbClr val="522CBA"/>
                </a:solidFill>
                <a:latin typeface="IBM Plex Sans" pitchFamily="34" charset="0"/>
                <a:ea typeface="IBM Plex Sans" pitchFamily="34" charset="-122"/>
                <a:cs typeface="IBM Plex Sans" pitchFamily="34" charset="-120"/>
              </a:rPr>
              <a:t>20.3%</a:t>
            </a:r>
            <a:endParaRPr lang="en-US" sz="2400" dirty="0"/>
          </a:p>
        </p:txBody>
      </p:sp>
      <p:sp>
        <p:nvSpPr>
          <p:cNvPr id="16" name="Text 14"/>
          <p:cNvSpPr/>
          <p:nvPr/>
        </p:nvSpPr>
        <p:spPr>
          <a:xfrm>
            <a:off x="6419088"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never reviewed</a:t>
            </a:r>
            <a:endParaRPr lang="en-US" sz="1300" dirty="0"/>
          </a:p>
        </p:txBody>
      </p:sp>
      <p:sp>
        <p:nvSpPr>
          <p:cNvPr id="17" name="Shape 15"/>
          <p:cNvSpPr/>
          <p:nvPr/>
        </p:nvSpPr>
        <p:spPr>
          <a:xfrm>
            <a:off x="9043416"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8" name="Shape 16"/>
          <p:cNvSpPr/>
          <p:nvPr/>
        </p:nvSpPr>
        <p:spPr>
          <a:xfrm>
            <a:off x="11329416" y="1773936"/>
            <a:ext cx="146304" cy="146304"/>
          </a:xfrm>
          <a:prstGeom prst="ellipse">
            <a:avLst/>
          </a:prstGeom>
          <a:solidFill>
            <a:srgbClr val="F4A664"/>
          </a:solidFill>
          <a:ln w="12700">
            <a:solidFill>
              <a:srgbClr val="333333"/>
            </a:solidFill>
            <a:prstDash val="solid"/>
          </a:ln>
        </p:spPr>
      </p:sp>
      <p:sp>
        <p:nvSpPr>
          <p:cNvPr id="19" name="Text 17"/>
          <p:cNvSpPr/>
          <p:nvPr/>
        </p:nvSpPr>
        <p:spPr>
          <a:xfrm>
            <a:off x="9244584" y="1773936"/>
            <a:ext cx="2011680" cy="512064"/>
          </a:xfrm>
          <a:prstGeom prst="rect">
            <a:avLst/>
          </a:prstGeom>
          <a:noFill/>
          <a:ln/>
        </p:spPr>
        <p:txBody>
          <a:bodyPr wrap="square" lIns="0" tIns="0" rIns="0" bIns="0" rtlCol="0" anchor="ctr"/>
          <a:lstStyle/>
          <a:p>
            <a:pPr indent="0" marL="0">
              <a:buNone/>
            </a:pPr>
            <a:r>
              <a:rPr lang="en-US" sz="2400" b="1" dirty="0">
                <a:solidFill>
                  <a:srgbClr val="522CBA"/>
                </a:solidFill>
                <a:latin typeface="IBM Plex Sans" pitchFamily="34" charset="0"/>
                <a:ea typeface="IBM Plex Sans" pitchFamily="34" charset="-122"/>
                <a:cs typeface="IBM Plex Sans" pitchFamily="34" charset="-120"/>
              </a:rPr>
              <a:t>8 Jul 2019</a:t>
            </a:r>
            <a:endParaRPr lang="en-US" sz="2400" dirty="0"/>
          </a:p>
        </p:txBody>
      </p:sp>
      <p:sp>
        <p:nvSpPr>
          <p:cNvPr id="20" name="Text 18"/>
          <p:cNvSpPr/>
          <p:nvPr/>
        </p:nvSpPr>
        <p:spPr>
          <a:xfrm>
            <a:off x="9244584"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last review</a:t>
            </a:r>
            <a:endParaRPr lang="en-US" sz="1300" dirty="0"/>
          </a:p>
        </p:txBody>
      </p:sp>
      <p:sp>
        <p:nvSpPr>
          <p:cNvPr id="21" name="Shape 19"/>
          <p:cNvSpPr/>
          <p:nvPr/>
        </p:nvSpPr>
        <p:spPr>
          <a:xfrm>
            <a:off x="566928" y="3127248"/>
            <a:ext cx="5532120" cy="3017520"/>
          </a:xfrm>
          <a:prstGeom prst="roundRect">
            <a:avLst>
              <a:gd name="adj" fmla="val 242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2" name="Shape 20"/>
          <p:cNvSpPr/>
          <p:nvPr/>
        </p:nvSpPr>
        <p:spPr>
          <a:xfrm>
            <a:off x="841248" y="3429000"/>
            <a:ext cx="137160" cy="137160"/>
          </a:xfrm>
          <a:prstGeom prst="ellipse">
            <a:avLst/>
          </a:prstGeom>
          <a:solidFill>
            <a:srgbClr val="57E3D8"/>
          </a:solidFill>
          <a:ln w="12700">
            <a:solidFill>
              <a:srgbClr val="333333"/>
            </a:solidFill>
            <a:prstDash val="solid"/>
          </a:ln>
        </p:spPr>
      </p:sp>
      <p:sp>
        <p:nvSpPr>
          <p:cNvPr id="23" name="Text 21"/>
          <p:cNvSpPr/>
          <p:nvPr/>
        </p:nvSpPr>
        <p:spPr>
          <a:xfrm>
            <a:off x="1106424" y="3328416"/>
            <a:ext cx="4764024" cy="347472"/>
          </a:xfrm>
          <a:prstGeom prst="rect">
            <a:avLst/>
          </a:prstGeom>
          <a:noFill/>
          <a:ln/>
        </p:spPr>
        <p:txBody>
          <a:bodyPr wrap="square" lIns="0" tIns="0" rIns="0" bIns="0" rtlCol="0" anchor="ctr"/>
          <a:lstStyle/>
          <a:p>
            <a:pPr indent="0" marL="0">
              <a:buNone/>
            </a:pPr>
            <a:r>
              <a:rPr lang="en-US" sz="1700" b="1" dirty="0">
                <a:solidFill>
                  <a:srgbClr val="9B78F7"/>
                </a:solidFill>
                <a:latin typeface="IBM Plex Sans" pitchFamily="34" charset="0"/>
                <a:ea typeface="IBM Plex Sans" pitchFamily="34" charset="-122"/>
                <a:cs typeface="IBM Plex Sans" pitchFamily="34" charset="-120"/>
              </a:rPr>
              <a:t>Numerical</a:t>
            </a:r>
            <a:endParaRPr lang="en-US" sz="1700" dirty="0"/>
          </a:p>
        </p:txBody>
      </p:sp>
      <p:sp>
        <p:nvSpPr>
          <p:cNvPr id="24" name="Text 22"/>
          <p:cNvSpPr/>
          <p:nvPr/>
        </p:nvSpPr>
        <p:spPr>
          <a:xfrm>
            <a:off x="841248" y="3749040"/>
            <a:ext cx="4983480" cy="1700784"/>
          </a:xfrm>
          <a:prstGeom prst="rect">
            <a:avLst/>
          </a:prstGeom>
          <a:noFill/>
          <a:ln/>
        </p:spPr>
        <p:txBody>
          <a:bodyPr wrap="square" lIns="0" tIns="0" rIns="0" bIns="0" rtlCol="0" anchor="ctr"/>
          <a:lstStyle/>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price · minimum_nights · availability_365</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number_of_reviews · reviews_per_month</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calculated_host_listings_count</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id and host_id are labels not measurements</a:t>
            </a:r>
            <a:endParaRPr lang="en-US" sz="1400" dirty="0"/>
          </a:p>
        </p:txBody>
      </p:sp>
      <p:sp>
        <p:nvSpPr>
          <p:cNvPr id="25" name="Text 23"/>
          <p:cNvSpPr/>
          <p:nvPr/>
        </p:nvSpPr>
        <p:spPr>
          <a:xfrm>
            <a:off x="841248" y="5577840"/>
            <a:ext cx="4983480" cy="365760"/>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No target variable. Price if modelled.</a:t>
            </a:r>
            <a:endParaRPr lang="en-US" sz="1400" dirty="0"/>
          </a:p>
        </p:txBody>
      </p:sp>
      <p:sp>
        <p:nvSpPr>
          <p:cNvPr id="26" name="Shape 24"/>
          <p:cNvSpPr/>
          <p:nvPr/>
        </p:nvSpPr>
        <p:spPr>
          <a:xfrm>
            <a:off x="6355080" y="3127248"/>
            <a:ext cx="5285232" cy="3017520"/>
          </a:xfrm>
          <a:prstGeom prst="roundRect">
            <a:avLst>
              <a:gd name="adj" fmla="val 242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7" name="Shape 25"/>
          <p:cNvSpPr/>
          <p:nvPr/>
        </p:nvSpPr>
        <p:spPr>
          <a:xfrm>
            <a:off x="6629400" y="3429000"/>
            <a:ext cx="137160" cy="137160"/>
          </a:xfrm>
          <a:prstGeom prst="ellipse">
            <a:avLst/>
          </a:prstGeom>
          <a:solidFill>
            <a:srgbClr val="F4A664"/>
          </a:solidFill>
          <a:ln w="12700">
            <a:solidFill>
              <a:srgbClr val="333333"/>
            </a:solidFill>
            <a:prstDash val="solid"/>
          </a:ln>
        </p:spPr>
      </p:sp>
      <p:sp>
        <p:nvSpPr>
          <p:cNvPr id="28" name="Text 26"/>
          <p:cNvSpPr/>
          <p:nvPr/>
        </p:nvSpPr>
        <p:spPr>
          <a:xfrm>
            <a:off x="6894576" y="3328416"/>
            <a:ext cx="4489704" cy="347472"/>
          </a:xfrm>
          <a:prstGeom prst="rect">
            <a:avLst/>
          </a:prstGeom>
          <a:noFill/>
          <a:ln/>
        </p:spPr>
        <p:txBody>
          <a:bodyPr wrap="square" lIns="0" tIns="0" rIns="0" bIns="0" rtlCol="0" anchor="ctr"/>
          <a:lstStyle/>
          <a:p>
            <a:pPr indent="0" marL="0">
              <a:buNone/>
            </a:pPr>
            <a:r>
              <a:rPr lang="en-US" sz="1700" b="1" dirty="0">
                <a:solidFill>
                  <a:srgbClr val="9B78F7"/>
                </a:solidFill>
                <a:latin typeface="IBM Plex Sans" pitchFamily="34" charset="0"/>
                <a:ea typeface="IBM Plex Sans" pitchFamily="34" charset="-122"/>
                <a:cs typeface="IBM Plex Sans" pitchFamily="34" charset="-120"/>
              </a:rPr>
              <a:t>Categorical</a:t>
            </a:r>
            <a:endParaRPr lang="en-US" sz="1700" dirty="0"/>
          </a:p>
        </p:txBody>
      </p:sp>
      <p:sp>
        <p:nvSpPr>
          <p:cNvPr id="29" name="Text 27"/>
          <p:cNvSpPr/>
          <p:nvPr/>
        </p:nvSpPr>
        <p:spPr>
          <a:xfrm>
            <a:off x="6629400" y="3749040"/>
            <a:ext cx="4754880" cy="1700784"/>
          </a:xfrm>
          <a:prstGeom prst="rect">
            <a:avLst/>
          </a:prstGeom>
          <a:noFill/>
          <a:ln/>
        </p:spPr>
        <p:txBody>
          <a:bodyPr wrap="square" lIns="0" tIns="0" rIns="0" bIns="0" rtlCol="0" anchor="ctr"/>
          <a:lstStyle/>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neighbourhood_group: 5 boroughs</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neighbourhood: 221 values and imbalanced</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room_type: 3 values</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host_name: free text</a:t>
            </a:r>
            <a:endParaRPr lang="en-US" sz="1400" dirty="0"/>
          </a:p>
        </p:txBody>
      </p:sp>
      <p:sp>
        <p:nvSpPr>
          <p:cNvPr id="30" name="Text 28"/>
          <p:cNvSpPr/>
          <p:nvPr/>
        </p:nvSpPr>
        <p:spPr>
          <a:xfrm>
            <a:off x="6629400" y="5577840"/>
            <a:ext cx="4754880" cy="365760"/>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Not categorical: name and last_review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Six problems and six fixes</a:t>
            </a:r>
            <a:endParaRPr lang="en-US" sz="3400" dirty="0"/>
          </a:p>
        </p:txBody>
      </p:sp>
      <p:sp>
        <p:nvSpPr>
          <p:cNvPr id="3" name="Shape 1"/>
          <p:cNvSpPr/>
          <p:nvPr/>
        </p:nvSpPr>
        <p:spPr>
          <a:xfrm>
            <a:off x="585216" y="1138428"/>
            <a:ext cx="146304" cy="146304"/>
          </a:xfrm>
          <a:prstGeom prst="ellipse">
            <a:avLst/>
          </a:prstGeom>
          <a:solidFill>
            <a:srgbClr val="F4A664"/>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The decision matters more than the method</a:t>
            </a:r>
            <a:endParaRPr lang="en-US" sz="1500" dirty="0"/>
          </a:p>
        </p:txBody>
      </p:sp>
      <p:sp>
        <p:nvSpPr>
          <p:cNvPr id="5" name="Text 3"/>
          <p:cNvSpPr/>
          <p:nvPr/>
        </p:nvSpPr>
        <p:spPr>
          <a:xfrm>
            <a:off x="1481328" y="1499616"/>
            <a:ext cx="2743200" cy="237744"/>
          </a:xfrm>
          <a:prstGeom prst="rect">
            <a:avLst/>
          </a:prstGeom>
          <a:noFill/>
          <a:ln/>
        </p:spPr>
        <p:txBody>
          <a:bodyPr wrap="square" lIns="0" tIns="0" rIns="0" bIns="0" rtlCol="0" anchor="ctr"/>
          <a:lstStyle/>
          <a:p>
            <a:pPr indent="0" marL="0">
              <a:buNone/>
            </a:pPr>
            <a:r>
              <a:rPr lang="en-US" sz="1000" b="1" spc="200" kern="0" dirty="0">
                <a:solidFill>
                  <a:srgbClr val="9B78F7"/>
                </a:solidFill>
                <a:latin typeface="IBM Plex Sans" pitchFamily="34" charset="0"/>
                <a:ea typeface="IBM Plex Sans" pitchFamily="34" charset="-122"/>
                <a:cs typeface="IBM Plex Sans" pitchFamily="34" charset="-120"/>
              </a:rPr>
              <a:t>PROBLEM</a:t>
            </a:r>
            <a:endParaRPr lang="en-US" sz="1000" dirty="0"/>
          </a:p>
        </p:txBody>
      </p:sp>
      <p:sp>
        <p:nvSpPr>
          <p:cNvPr id="6" name="Text 4"/>
          <p:cNvSpPr/>
          <p:nvPr/>
        </p:nvSpPr>
        <p:spPr>
          <a:xfrm>
            <a:off x="4315968" y="1499616"/>
            <a:ext cx="3566160" cy="237744"/>
          </a:xfrm>
          <a:prstGeom prst="rect">
            <a:avLst/>
          </a:prstGeom>
          <a:noFill/>
          <a:ln/>
        </p:spPr>
        <p:txBody>
          <a:bodyPr wrap="square" lIns="0" tIns="0" rIns="0" bIns="0" rtlCol="0" anchor="ctr"/>
          <a:lstStyle/>
          <a:p>
            <a:pPr indent="0" marL="0">
              <a:buNone/>
            </a:pPr>
            <a:r>
              <a:rPr lang="en-US" sz="1000" b="1" spc="200" kern="0" dirty="0">
                <a:solidFill>
                  <a:srgbClr val="9B78F7"/>
                </a:solidFill>
                <a:latin typeface="IBM Plex Sans" pitchFamily="34" charset="0"/>
                <a:ea typeface="IBM Plex Sans" pitchFamily="34" charset="-122"/>
                <a:cs typeface="IBM Plex Sans" pitchFamily="34" charset="-120"/>
              </a:rPr>
              <a:t>WHAT I FOUND</a:t>
            </a:r>
            <a:endParaRPr lang="en-US" sz="1000" dirty="0"/>
          </a:p>
        </p:txBody>
      </p:sp>
      <p:sp>
        <p:nvSpPr>
          <p:cNvPr id="7" name="Text 5"/>
          <p:cNvSpPr/>
          <p:nvPr/>
        </p:nvSpPr>
        <p:spPr>
          <a:xfrm>
            <a:off x="8001000" y="1499616"/>
            <a:ext cx="3383280" cy="237744"/>
          </a:xfrm>
          <a:prstGeom prst="rect">
            <a:avLst/>
          </a:prstGeom>
          <a:noFill/>
          <a:ln/>
        </p:spPr>
        <p:txBody>
          <a:bodyPr wrap="square" lIns="0" tIns="0" rIns="0" bIns="0" rtlCol="0" anchor="ctr"/>
          <a:lstStyle/>
          <a:p>
            <a:pPr indent="0" marL="0">
              <a:buNone/>
            </a:pPr>
            <a:r>
              <a:rPr lang="en-US" sz="1000" b="1" spc="200" kern="0" dirty="0">
                <a:solidFill>
                  <a:srgbClr val="9B78F7"/>
                </a:solidFill>
                <a:latin typeface="IBM Plex Sans" pitchFamily="34" charset="0"/>
                <a:ea typeface="IBM Plex Sans" pitchFamily="34" charset="-122"/>
                <a:cs typeface="IBM Plex Sans" pitchFamily="34" charset="-120"/>
              </a:rPr>
              <a:t>FIX</a:t>
            </a:r>
            <a:endParaRPr lang="en-US" sz="1000" dirty="0"/>
          </a:p>
        </p:txBody>
      </p:sp>
      <p:sp>
        <p:nvSpPr>
          <p:cNvPr id="8" name="Shape 6"/>
          <p:cNvSpPr/>
          <p:nvPr/>
        </p:nvSpPr>
        <p:spPr>
          <a:xfrm>
            <a:off x="566928" y="1828800"/>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9" name="Shape 7"/>
          <p:cNvSpPr/>
          <p:nvPr/>
        </p:nvSpPr>
        <p:spPr>
          <a:xfrm>
            <a:off x="822960" y="1984248"/>
            <a:ext cx="384048" cy="384048"/>
          </a:xfrm>
          <a:prstGeom prst="ellipse">
            <a:avLst/>
          </a:prstGeom>
          <a:solidFill>
            <a:srgbClr val="522CBA"/>
          </a:solidFill>
          <a:ln w="12700">
            <a:solidFill>
              <a:srgbClr val="333333"/>
            </a:solidFill>
            <a:prstDash val="solid"/>
          </a:ln>
        </p:spPr>
      </p:sp>
      <p:sp>
        <p:nvSpPr>
          <p:cNvPr id="10" name="Text 8"/>
          <p:cNvSpPr/>
          <p:nvPr/>
        </p:nvSpPr>
        <p:spPr>
          <a:xfrm>
            <a:off x="822960" y="1984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IBM Plex Sans" pitchFamily="34" charset="0"/>
                <a:ea typeface="IBM Plex Sans" pitchFamily="34" charset="-122"/>
                <a:cs typeface="IBM Plex Sans" pitchFamily="34" charset="-120"/>
              </a:rPr>
              <a:t>1</a:t>
            </a:r>
            <a:endParaRPr lang="en-US" sz="1300" dirty="0"/>
          </a:p>
        </p:txBody>
      </p:sp>
      <p:sp>
        <p:nvSpPr>
          <p:cNvPr id="11" name="Text 9"/>
          <p:cNvSpPr/>
          <p:nvPr/>
        </p:nvSpPr>
        <p:spPr>
          <a:xfrm>
            <a:off x="1481328" y="1856232"/>
            <a:ext cx="2743200" cy="630936"/>
          </a:xfrm>
          <a:prstGeom prst="rect">
            <a:avLst/>
          </a:prstGeom>
          <a:noFill/>
          <a:ln/>
        </p:spPr>
        <p:txBody>
          <a:bodyPr wrap="square" lIns="0" tIns="0" rIns="0" bIns="0" rtlCol="0" anchor="ctr"/>
          <a:lstStyle/>
          <a:p>
            <a:pPr indent="0" marL="0">
              <a:buNone/>
            </a:pPr>
            <a:r>
              <a:rPr lang="en-US" sz="1400" b="1" dirty="0">
                <a:solidFill>
                  <a:srgbClr val="000000"/>
                </a:solidFill>
                <a:latin typeface="IBM Plex Sans" pitchFamily="34" charset="0"/>
                <a:ea typeface="IBM Plex Sans" pitchFamily="34" charset="-122"/>
                <a:cs typeface="IBM Plex Sans" pitchFamily="34" charset="-120"/>
              </a:rPr>
              <a:t>Missing values</a:t>
            </a:r>
            <a:endParaRPr lang="en-US" sz="1400" dirty="0"/>
          </a:p>
        </p:txBody>
      </p:sp>
      <p:sp>
        <p:nvSpPr>
          <p:cNvPr id="12" name="Text 10"/>
          <p:cNvSpPr/>
          <p:nvPr/>
        </p:nvSpPr>
        <p:spPr>
          <a:xfrm>
            <a:off x="4315968" y="1856232"/>
            <a:ext cx="3566160" cy="6309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9,901 with no reviews. 20.3%</a:t>
            </a:r>
            <a:endParaRPr lang="en-US" sz="1300" dirty="0"/>
          </a:p>
        </p:txBody>
      </p:sp>
      <p:sp>
        <p:nvSpPr>
          <p:cNvPr id="13" name="Text 11"/>
          <p:cNvSpPr/>
          <p:nvPr/>
        </p:nvSpPr>
        <p:spPr>
          <a:xfrm>
            <a:off x="8001000" y="1856232"/>
            <a:ext cx="3383280" cy="630936"/>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reviews_per_month → 0</a:t>
            </a:r>
            <a:endParaRPr lang="en-US" sz="1400" dirty="0"/>
          </a:p>
        </p:txBody>
      </p:sp>
      <p:sp>
        <p:nvSpPr>
          <p:cNvPr id="14" name="Shape 12"/>
          <p:cNvSpPr/>
          <p:nvPr/>
        </p:nvSpPr>
        <p:spPr>
          <a:xfrm>
            <a:off x="566928" y="2587752"/>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5" name="Shape 13"/>
          <p:cNvSpPr/>
          <p:nvPr/>
        </p:nvSpPr>
        <p:spPr>
          <a:xfrm>
            <a:off x="822960" y="2743200"/>
            <a:ext cx="384048" cy="384048"/>
          </a:xfrm>
          <a:prstGeom prst="ellipse">
            <a:avLst/>
          </a:prstGeom>
          <a:solidFill>
            <a:srgbClr val="9B78F7"/>
          </a:solidFill>
          <a:ln w="12700">
            <a:solidFill>
              <a:srgbClr val="333333"/>
            </a:solidFill>
            <a:prstDash val="solid"/>
          </a:ln>
        </p:spPr>
      </p:sp>
      <p:sp>
        <p:nvSpPr>
          <p:cNvPr id="16" name="Text 14"/>
          <p:cNvSpPr/>
          <p:nvPr/>
        </p:nvSpPr>
        <p:spPr>
          <a:xfrm>
            <a:off x="82296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IBM Plex Sans" pitchFamily="34" charset="0"/>
                <a:ea typeface="IBM Plex Sans" pitchFamily="34" charset="-122"/>
                <a:cs typeface="IBM Plex Sans" pitchFamily="34" charset="-120"/>
              </a:rPr>
              <a:t>2</a:t>
            </a:r>
            <a:endParaRPr lang="en-US" sz="1300" dirty="0"/>
          </a:p>
        </p:txBody>
      </p:sp>
      <p:sp>
        <p:nvSpPr>
          <p:cNvPr id="17" name="Text 15"/>
          <p:cNvSpPr/>
          <p:nvPr/>
        </p:nvSpPr>
        <p:spPr>
          <a:xfrm>
            <a:off x="1481328" y="2615184"/>
            <a:ext cx="2743200" cy="630936"/>
          </a:xfrm>
          <a:prstGeom prst="rect">
            <a:avLst/>
          </a:prstGeom>
          <a:noFill/>
          <a:ln/>
        </p:spPr>
        <p:txBody>
          <a:bodyPr wrap="square" lIns="0" tIns="0" rIns="0" bIns="0" rtlCol="0" anchor="ctr"/>
          <a:lstStyle/>
          <a:p>
            <a:pPr indent="0" marL="0">
              <a:buNone/>
            </a:pPr>
            <a:r>
              <a:rPr lang="en-US" sz="1400" b="1" dirty="0">
                <a:solidFill>
                  <a:srgbClr val="000000"/>
                </a:solidFill>
                <a:latin typeface="IBM Plex Sans" pitchFamily="34" charset="0"/>
                <a:ea typeface="IBM Plex Sans" pitchFamily="34" charset="-122"/>
                <a:cs typeface="IBM Plex Sans" pitchFamily="34" charset="-120"/>
              </a:rPr>
              <a:t>Hidden duplicates</a:t>
            </a:r>
            <a:endParaRPr lang="en-US" sz="1400" dirty="0"/>
          </a:p>
        </p:txBody>
      </p:sp>
      <p:sp>
        <p:nvSpPr>
          <p:cNvPr id="18" name="Text 16"/>
          <p:cNvSpPr/>
          <p:nvPr/>
        </p:nvSpPr>
        <p:spPr>
          <a:xfrm>
            <a:off x="4315968" y="2615184"/>
            <a:ext cx="3566160" cy="6309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duplicated said 0. Really 217</a:t>
            </a:r>
            <a:endParaRPr lang="en-US" sz="1300" dirty="0"/>
          </a:p>
        </p:txBody>
      </p:sp>
      <p:sp>
        <p:nvSpPr>
          <p:cNvPr id="19" name="Text 17"/>
          <p:cNvSpPr/>
          <p:nvPr/>
        </p:nvSpPr>
        <p:spPr>
          <a:xfrm>
            <a:off x="8001000" y="2615184"/>
            <a:ext cx="3383280" cy="630936"/>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keep the most recent</a:t>
            </a:r>
            <a:endParaRPr lang="en-US" sz="1400" dirty="0"/>
          </a:p>
        </p:txBody>
      </p:sp>
      <p:sp>
        <p:nvSpPr>
          <p:cNvPr id="20" name="Shape 18"/>
          <p:cNvSpPr/>
          <p:nvPr/>
        </p:nvSpPr>
        <p:spPr>
          <a:xfrm>
            <a:off x="566928" y="3346704"/>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1" name="Shape 19"/>
          <p:cNvSpPr/>
          <p:nvPr/>
        </p:nvSpPr>
        <p:spPr>
          <a:xfrm>
            <a:off x="822960" y="3502152"/>
            <a:ext cx="384048" cy="384048"/>
          </a:xfrm>
          <a:prstGeom prst="ellipse">
            <a:avLst/>
          </a:prstGeom>
          <a:solidFill>
            <a:srgbClr val="57E3D8"/>
          </a:solidFill>
          <a:ln w="12700">
            <a:solidFill>
              <a:srgbClr val="333333"/>
            </a:solidFill>
            <a:prstDash val="solid"/>
          </a:ln>
        </p:spPr>
      </p:sp>
      <p:sp>
        <p:nvSpPr>
          <p:cNvPr id="22" name="Text 20"/>
          <p:cNvSpPr/>
          <p:nvPr/>
        </p:nvSpPr>
        <p:spPr>
          <a:xfrm>
            <a:off x="822960" y="3502152"/>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IBM Plex Sans" pitchFamily="34" charset="0"/>
                <a:ea typeface="IBM Plex Sans" pitchFamily="34" charset="-122"/>
                <a:cs typeface="IBM Plex Sans" pitchFamily="34" charset="-120"/>
              </a:rPr>
              <a:t>3</a:t>
            </a:r>
            <a:endParaRPr lang="en-US" sz="1300" dirty="0"/>
          </a:p>
        </p:txBody>
      </p:sp>
      <p:sp>
        <p:nvSpPr>
          <p:cNvPr id="23" name="Text 21"/>
          <p:cNvSpPr/>
          <p:nvPr/>
        </p:nvSpPr>
        <p:spPr>
          <a:xfrm>
            <a:off x="1481328" y="3374136"/>
            <a:ext cx="2743200" cy="630936"/>
          </a:xfrm>
          <a:prstGeom prst="rect">
            <a:avLst/>
          </a:prstGeom>
          <a:noFill/>
          <a:ln/>
        </p:spPr>
        <p:txBody>
          <a:bodyPr wrap="square" lIns="0" tIns="0" rIns="0" bIns="0" rtlCol="0" anchor="ctr"/>
          <a:lstStyle/>
          <a:p>
            <a:pPr indent="0" marL="0">
              <a:buNone/>
            </a:pPr>
            <a:r>
              <a:rPr lang="en-US" sz="1400" b="1" dirty="0">
                <a:solidFill>
                  <a:srgbClr val="000000"/>
                </a:solidFill>
                <a:latin typeface="IBM Plex Sans" pitchFamily="34" charset="0"/>
                <a:ea typeface="IBM Plex Sans" pitchFamily="34" charset="-122"/>
                <a:cs typeface="IBM Plex Sans" pitchFamily="34" charset="-120"/>
              </a:rPr>
              <a:t>Wrong data type</a:t>
            </a:r>
            <a:endParaRPr lang="en-US" sz="1400" dirty="0"/>
          </a:p>
        </p:txBody>
      </p:sp>
      <p:sp>
        <p:nvSpPr>
          <p:cNvPr id="24" name="Text 22"/>
          <p:cNvSpPr/>
          <p:nvPr/>
        </p:nvSpPr>
        <p:spPr>
          <a:xfrm>
            <a:off x="4315968" y="3374136"/>
            <a:ext cx="3566160" cy="6309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last_review stored as text</a:t>
            </a:r>
            <a:endParaRPr lang="en-US" sz="1300" dirty="0"/>
          </a:p>
        </p:txBody>
      </p:sp>
      <p:sp>
        <p:nvSpPr>
          <p:cNvPr id="25" name="Text 23"/>
          <p:cNvSpPr/>
          <p:nvPr/>
        </p:nvSpPr>
        <p:spPr>
          <a:xfrm>
            <a:off x="8001000" y="3374136"/>
            <a:ext cx="3383280" cy="630936"/>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convert to datetime</a:t>
            </a:r>
            <a:endParaRPr lang="en-US" sz="1400" dirty="0"/>
          </a:p>
        </p:txBody>
      </p:sp>
      <p:sp>
        <p:nvSpPr>
          <p:cNvPr id="26" name="Shape 24"/>
          <p:cNvSpPr/>
          <p:nvPr/>
        </p:nvSpPr>
        <p:spPr>
          <a:xfrm>
            <a:off x="566928" y="4105656"/>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7" name="Shape 25"/>
          <p:cNvSpPr/>
          <p:nvPr/>
        </p:nvSpPr>
        <p:spPr>
          <a:xfrm>
            <a:off x="822960" y="4261104"/>
            <a:ext cx="384048" cy="384048"/>
          </a:xfrm>
          <a:prstGeom prst="ellipse">
            <a:avLst/>
          </a:prstGeom>
          <a:solidFill>
            <a:srgbClr val="F4A664"/>
          </a:solidFill>
          <a:ln w="12700">
            <a:solidFill>
              <a:srgbClr val="333333"/>
            </a:solidFill>
            <a:prstDash val="solid"/>
          </a:ln>
        </p:spPr>
      </p:sp>
      <p:sp>
        <p:nvSpPr>
          <p:cNvPr id="28" name="Text 26"/>
          <p:cNvSpPr/>
          <p:nvPr/>
        </p:nvSpPr>
        <p:spPr>
          <a:xfrm>
            <a:off x="822960" y="426110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IBM Plex Sans" pitchFamily="34" charset="0"/>
                <a:ea typeface="IBM Plex Sans" pitchFamily="34" charset="-122"/>
                <a:cs typeface="IBM Plex Sans" pitchFamily="34" charset="-120"/>
              </a:rPr>
              <a:t>4</a:t>
            </a:r>
            <a:endParaRPr lang="en-US" sz="1300" dirty="0"/>
          </a:p>
        </p:txBody>
      </p:sp>
      <p:sp>
        <p:nvSpPr>
          <p:cNvPr id="29" name="Text 27"/>
          <p:cNvSpPr/>
          <p:nvPr/>
        </p:nvSpPr>
        <p:spPr>
          <a:xfrm>
            <a:off x="1481328" y="4133088"/>
            <a:ext cx="2743200" cy="630936"/>
          </a:xfrm>
          <a:prstGeom prst="rect">
            <a:avLst/>
          </a:prstGeom>
          <a:noFill/>
          <a:ln/>
        </p:spPr>
        <p:txBody>
          <a:bodyPr wrap="square" lIns="0" tIns="0" rIns="0" bIns="0" rtlCol="0" anchor="ctr"/>
          <a:lstStyle/>
          <a:p>
            <a:pPr indent="0" marL="0">
              <a:buNone/>
            </a:pPr>
            <a:r>
              <a:rPr lang="en-US" sz="1400" b="1" dirty="0">
                <a:solidFill>
                  <a:srgbClr val="000000"/>
                </a:solidFill>
                <a:latin typeface="IBM Plex Sans" pitchFamily="34" charset="0"/>
                <a:ea typeface="IBM Plex Sans" pitchFamily="34" charset="-122"/>
                <a:cs typeface="IBM Plex Sans" pitchFamily="34" charset="-120"/>
              </a:rPr>
              <a:t>Invalid values</a:t>
            </a:r>
            <a:endParaRPr lang="en-US" sz="1400" dirty="0"/>
          </a:p>
        </p:txBody>
      </p:sp>
      <p:sp>
        <p:nvSpPr>
          <p:cNvPr id="30" name="Text 28"/>
          <p:cNvSpPr/>
          <p:nvPr/>
        </p:nvSpPr>
        <p:spPr>
          <a:xfrm>
            <a:off x="4315968" y="4133088"/>
            <a:ext cx="3566160" cy="6309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11 listings priced at $0</a:t>
            </a:r>
            <a:endParaRPr lang="en-US" sz="1300" dirty="0"/>
          </a:p>
        </p:txBody>
      </p:sp>
      <p:sp>
        <p:nvSpPr>
          <p:cNvPr id="31" name="Text 29"/>
          <p:cNvSpPr/>
          <p:nvPr/>
        </p:nvSpPr>
        <p:spPr>
          <a:xfrm>
            <a:off x="8001000" y="4133088"/>
            <a:ext cx="3383280" cy="630936"/>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group median by location</a:t>
            </a:r>
            <a:endParaRPr lang="en-US" sz="1400" dirty="0"/>
          </a:p>
        </p:txBody>
      </p:sp>
      <p:sp>
        <p:nvSpPr>
          <p:cNvPr id="32" name="Shape 30"/>
          <p:cNvSpPr/>
          <p:nvPr/>
        </p:nvSpPr>
        <p:spPr>
          <a:xfrm>
            <a:off x="566928" y="4864608"/>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33" name="Shape 31"/>
          <p:cNvSpPr/>
          <p:nvPr/>
        </p:nvSpPr>
        <p:spPr>
          <a:xfrm>
            <a:off x="822960" y="5020056"/>
            <a:ext cx="384048" cy="384048"/>
          </a:xfrm>
          <a:prstGeom prst="ellipse">
            <a:avLst/>
          </a:prstGeom>
          <a:solidFill>
            <a:srgbClr val="522CBA"/>
          </a:solidFill>
          <a:ln w="12700">
            <a:solidFill>
              <a:srgbClr val="333333"/>
            </a:solidFill>
            <a:prstDash val="solid"/>
          </a:ln>
        </p:spPr>
      </p:sp>
      <p:sp>
        <p:nvSpPr>
          <p:cNvPr id="34" name="Text 32"/>
          <p:cNvSpPr/>
          <p:nvPr/>
        </p:nvSpPr>
        <p:spPr>
          <a:xfrm>
            <a:off x="822960" y="5020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IBM Plex Sans" pitchFamily="34" charset="0"/>
                <a:ea typeface="IBM Plex Sans" pitchFamily="34" charset="-122"/>
                <a:cs typeface="IBM Plex Sans" pitchFamily="34" charset="-120"/>
              </a:rPr>
              <a:t>5</a:t>
            </a:r>
            <a:endParaRPr lang="en-US" sz="1300" dirty="0"/>
          </a:p>
        </p:txBody>
      </p:sp>
      <p:sp>
        <p:nvSpPr>
          <p:cNvPr id="35" name="Text 33"/>
          <p:cNvSpPr/>
          <p:nvPr/>
        </p:nvSpPr>
        <p:spPr>
          <a:xfrm>
            <a:off x="1481328" y="4892040"/>
            <a:ext cx="2743200" cy="630936"/>
          </a:xfrm>
          <a:prstGeom prst="rect">
            <a:avLst/>
          </a:prstGeom>
          <a:noFill/>
          <a:ln/>
        </p:spPr>
        <p:txBody>
          <a:bodyPr wrap="square" lIns="0" tIns="0" rIns="0" bIns="0" rtlCol="0" anchor="ctr"/>
          <a:lstStyle/>
          <a:p>
            <a:pPr indent="0" marL="0">
              <a:buNone/>
            </a:pPr>
            <a:r>
              <a:rPr lang="en-US" sz="1400" b="1" dirty="0">
                <a:solidFill>
                  <a:srgbClr val="000000"/>
                </a:solidFill>
                <a:latin typeface="IBM Plex Sans" pitchFamily="34" charset="0"/>
                <a:ea typeface="IBM Plex Sans" pitchFamily="34" charset="-122"/>
                <a:cs typeface="IBM Plex Sans" pitchFamily="34" charset="-120"/>
              </a:rPr>
              <a:t>Inconsistent categories</a:t>
            </a:r>
            <a:endParaRPr lang="en-US" sz="1400" dirty="0"/>
          </a:p>
        </p:txBody>
      </p:sp>
      <p:sp>
        <p:nvSpPr>
          <p:cNvPr id="36" name="Text 34"/>
          <p:cNvSpPr/>
          <p:nvPr/>
        </p:nvSpPr>
        <p:spPr>
          <a:xfrm>
            <a:off x="4315968" y="4892040"/>
            <a:ext cx="3566160" cy="6309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11,453 host names → 11,429</a:t>
            </a:r>
            <a:endParaRPr lang="en-US" sz="1300" dirty="0"/>
          </a:p>
        </p:txBody>
      </p:sp>
      <p:sp>
        <p:nvSpPr>
          <p:cNvPr id="37" name="Text 35"/>
          <p:cNvSpPr/>
          <p:nvPr/>
        </p:nvSpPr>
        <p:spPr>
          <a:xfrm>
            <a:off x="8001000" y="4892040"/>
            <a:ext cx="3383280" cy="630936"/>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lowercase and strip</a:t>
            </a:r>
            <a:endParaRPr lang="en-US" sz="1400" dirty="0"/>
          </a:p>
        </p:txBody>
      </p:sp>
      <p:sp>
        <p:nvSpPr>
          <p:cNvPr id="38" name="Shape 36"/>
          <p:cNvSpPr/>
          <p:nvPr/>
        </p:nvSpPr>
        <p:spPr>
          <a:xfrm>
            <a:off x="566928" y="5623560"/>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39" name="Shape 37"/>
          <p:cNvSpPr/>
          <p:nvPr/>
        </p:nvSpPr>
        <p:spPr>
          <a:xfrm>
            <a:off x="822960" y="5779008"/>
            <a:ext cx="384048" cy="384048"/>
          </a:xfrm>
          <a:prstGeom prst="ellipse">
            <a:avLst/>
          </a:prstGeom>
          <a:solidFill>
            <a:srgbClr val="9B78F7"/>
          </a:solidFill>
          <a:ln w="12700">
            <a:solidFill>
              <a:srgbClr val="333333"/>
            </a:solidFill>
            <a:prstDash val="solid"/>
          </a:ln>
        </p:spPr>
      </p:sp>
      <p:sp>
        <p:nvSpPr>
          <p:cNvPr id="40" name="Text 38"/>
          <p:cNvSpPr/>
          <p:nvPr/>
        </p:nvSpPr>
        <p:spPr>
          <a:xfrm>
            <a:off x="822960" y="57790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IBM Plex Sans" pitchFamily="34" charset="0"/>
                <a:ea typeface="IBM Plex Sans" pitchFamily="34" charset="-122"/>
                <a:cs typeface="IBM Plex Sans" pitchFamily="34" charset="-120"/>
              </a:rPr>
              <a:t>6</a:t>
            </a:r>
            <a:endParaRPr lang="en-US" sz="1300" dirty="0"/>
          </a:p>
        </p:txBody>
      </p:sp>
      <p:sp>
        <p:nvSpPr>
          <p:cNvPr id="41" name="Text 39"/>
          <p:cNvSpPr/>
          <p:nvPr/>
        </p:nvSpPr>
        <p:spPr>
          <a:xfrm>
            <a:off x="1481328" y="5650992"/>
            <a:ext cx="2743200" cy="630936"/>
          </a:xfrm>
          <a:prstGeom prst="rect">
            <a:avLst/>
          </a:prstGeom>
          <a:noFill/>
          <a:ln/>
        </p:spPr>
        <p:txBody>
          <a:bodyPr wrap="square" lIns="0" tIns="0" rIns="0" bIns="0" rtlCol="0" anchor="ctr"/>
          <a:lstStyle/>
          <a:p>
            <a:pPr indent="0" marL="0">
              <a:buNone/>
            </a:pPr>
            <a:r>
              <a:rPr lang="en-US" sz="1400" b="1" dirty="0">
                <a:solidFill>
                  <a:srgbClr val="000000"/>
                </a:solidFill>
                <a:latin typeface="IBM Plex Sans" pitchFamily="34" charset="0"/>
                <a:ea typeface="IBM Plex Sans" pitchFamily="34" charset="-122"/>
                <a:cs typeface="IBM Plex Sans" pitchFamily="34" charset="-120"/>
              </a:rPr>
              <a:t>Outliers</a:t>
            </a:r>
            <a:endParaRPr lang="en-US" sz="1400" dirty="0"/>
          </a:p>
        </p:txBody>
      </p:sp>
      <p:sp>
        <p:nvSpPr>
          <p:cNvPr id="42" name="Text 40"/>
          <p:cNvSpPr/>
          <p:nvPr/>
        </p:nvSpPr>
        <p:spPr>
          <a:xfrm>
            <a:off x="4315968" y="5650992"/>
            <a:ext cx="3566160" cy="6309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1,250-night minimums</a:t>
            </a:r>
            <a:endParaRPr lang="en-US" sz="1300" dirty="0"/>
          </a:p>
        </p:txBody>
      </p:sp>
      <p:sp>
        <p:nvSpPr>
          <p:cNvPr id="43" name="Text 41"/>
          <p:cNvSpPr/>
          <p:nvPr/>
        </p:nvSpPr>
        <p:spPr>
          <a:xfrm>
            <a:off x="8001000" y="5650992"/>
            <a:ext cx="3383280" cy="630936"/>
          </a:xfrm>
          <a:prstGeom prst="rect">
            <a:avLst/>
          </a:prstGeom>
          <a:noFill/>
          <a:ln/>
        </p:spPr>
        <p:txBody>
          <a:bodyPr wrap="square" lIns="0" tIns="0" rIns="0" bIns="0" rtlCol="0" anchor="ctr"/>
          <a:lstStyle/>
          <a:p>
            <a:pPr indent="0" marL="0">
              <a:buNone/>
            </a:pPr>
            <a:r>
              <a:rPr lang="en-US" sz="1400" b="1" dirty="0">
                <a:solidFill>
                  <a:srgbClr val="522CBA"/>
                </a:solidFill>
                <a:latin typeface="IBM Plex Sans" pitchFamily="34" charset="0"/>
                <a:ea typeface="IBM Plex Sans" pitchFamily="34" charset="-122"/>
                <a:cs typeface="IBM Plex Sans" pitchFamily="34" charset="-120"/>
              </a:rPr>
              <a:t>cap at 365 and keep the rest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Outliers are real not errors</a:t>
            </a:r>
            <a:endParaRPr lang="en-US" sz="3400" dirty="0"/>
          </a:p>
        </p:txBody>
      </p:sp>
      <p:sp>
        <p:nvSpPr>
          <p:cNvPr id="3" name="Shape 1"/>
          <p:cNvSpPr/>
          <p:nvPr/>
        </p:nvSpPr>
        <p:spPr>
          <a:xfrm>
            <a:off x="585216" y="1138428"/>
            <a:ext cx="146304" cy="146304"/>
          </a:xfrm>
          <a:prstGeom prst="ellipse">
            <a:avLst/>
          </a:prstGeom>
          <a:solidFill>
            <a:srgbClr val="57E3D8"/>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Box plots and IQR</a:t>
            </a:r>
            <a:endParaRPr lang="en-US" sz="1500" dirty="0"/>
          </a:p>
        </p:txBody>
      </p:sp>
      <p:sp>
        <p:nvSpPr>
          <p:cNvPr id="5" name="Shape 3"/>
          <p:cNvSpPr/>
          <p:nvPr/>
        </p:nvSpPr>
        <p:spPr>
          <a:xfrm>
            <a:off x="566928" y="1572768"/>
            <a:ext cx="7863840" cy="4443984"/>
          </a:xfrm>
          <a:prstGeom prst="roundRect">
            <a:avLst>
              <a:gd name="adj" fmla="val 164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6" name="Image 0" descr="/tmp/claude-0/-home-user-Tuwaiq-Bootcamp/31d76967-b7b5-527c-bee1-8d14c00fddcd/scratchpad/plots/outliers_box_1.png">    </p:cNvPr>
          <p:cNvPicPr>
            <a:picLocks noChangeAspect="1"/>
          </p:cNvPicPr>
          <p:nvPr/>
        </p:nvPicPr>
        <p:blipFill>
          <a:blip r:embed="rId1"/>
          <a:srcRect l="0" r="0" t="0" b="0"/>
          <a:stretch/>
        </p:blipFill>
        <p:spPr>
          <a:xfrm>
            <a:off x="676656" y="1682496"/>
            <a:ext cx="7644384" cy="4224528"/>
          </a:xfrm>
          <a:prstGeom prst="rect">
            <a:avLst/>
          </a:prstGeom>
        </p:spPr>
      </p:pic>
      <p:sp>
        <p:nvSpPr>
          <p:cNvPr id="7" name="Shape 4"/>
          <p:cNvSpPr/>
          <p:nvPr/>
        </p:nvSpPr>
        <p:spPr>
          <a:xfrm>
            <a:off x="8613648" y="1572768"/>
            <a:ext cx="3026664" cy="4443984"/>
          </a:xfrm>
          <a:prstGeom prst="roundRect">
            <a:avLst>
              <a:gd name="adj" fmla="val 241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8" name="Shape 5"/>
          <p:cNvSpPr/>
          <p:nvPr/>
        </p:nvSpPr>
        <p:spPr>
          <a:xfrm>
            <a:off x="8869680" y="1874520"/>
            <a:ext cx="137160" cy="137160"/>
          </a:xfrm>
          <a:prstGeom prst="ellipse">
            <a:avLst/>
          </a:prstGeom>
          <a:solidFill>
            <a:srgbClr val="F4A664"/>
          </a:solidFill>
          <a:ln w="12700">
            <a:solidFill>
              <a:srgbClr val="333333"/>
            </a:solidFill>
            <a:prstDash val="solid"/>
          </a:ln>
        </p:spPr>
      </p:sp>
      <p:sp>
        <p:nvSpPr>
          <p:cNvPr id="9" name="Text 6"/>
          <p:cNvSpPr/>
          <p:nvPr/>
        </p:nvSpPr>
        <p:spPr>
          <a:xfrm>
            <a:off x="9134856" y="1773936"/>
            <a:ext cx="2386584" cy="347472"/>
          </a:xfrm>
          <a:prstGeom prst="rect">
            <a:avLst/>
          </a:prstGeom>
          <a:noFill/>
          <a:ln/>
        </p:spPr>
        <p:txBody>
          <a:bodyPr wrap="square" lIns="0" tIns="0" rIns="0" bIns="0" rtlCol="0" anchor="ctr"/>
          <a:lstStyle/>
          <a:p>
            <a:pPr indent="0" marL="0">
              <a:buNone/>
            </a:pPr>
            <a:r>
              <a:rPr lang="en-US" sz="1700" b="1" dirty="0">
                <a:solidFill>
                  <a:srgbClr val="9B78F7"/>
                </a:solidFill>
                <a:latin typeface="IBM Plex Sans" pitchFamily="34" charset="0"/>
                <a:ea typeface="IBM Plex Sans" pitchFamily="34" charset="-122"/>
                <a:cs typeface="IBM Plex Sans" pitchFamily="34" charset="-120"/>
              </a:rPr>
              <a:t>Flagged by IQR</a:t>
            </a:r>
            <a:endParaRPr lang="en-US" sz="1700" dirty="0"/>
          </a:p>
        </p:txBody>
      </p:sp>
      <p:sp>
        <p:nvSpPr>
          <p:cNvPr id="10" name="Text 7"/>
          <p:cNvSpPr/>
          <p:nvPr/>
        </p:nvSpPr>
        <p:spPr>
          <a:xfrm>
            <a:off x="8869680" y="2286000"/>
            <a:ext cx="1783080" cy="384048"/>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price</a:t>
            </a:r>
            <a:endParaRPr lang="en-US" sz="1200" dirty="0"/>
          </a:p>
        </p:txBody>
      </p:sp>
      <p:sp>
        <p:nvSpPr>
          <p:cNvPr id="11" name="Text 8"/>
          <p:cNvSpPr/>
          <p:nvPr/>
        </p:nvSpPr>
        <p:spPr>
          <a:xfrm>
            <a:off x="10607040" y="2286000"/>
            <a:ext cx="804672" cy="384048"/>
          </a:xfrm>
          <a:prstGeom prst="rect">
            <a:avLst/>
          </a:prstGeom>
          <a:noFill/>
          <a:ln/>
        </p:spPr>
        <p:txBody>
          <a:bodyPr wrap="square" lIns="0" tIns="0" rIns="0" bIns="0" rtlCol="0" anchor="ctr"/>
          <a:lstStyle/>
          <a:p>
            <a:pPr algn="r" indent="0" marL="0">
              <a:buNone/>
            </a:pPr>
            <a:r>
              <a:rPr lang="en-US" sz="1300" b="1" dirty="0">
                <a:solidFill>
                  <a:srgbClr val="522CBA"/>
                </a:solidFill>
                <a:latin typeface="IBM Plex Sans" pitchFamily="34" charset="0"/>
                <a:ea typeface="IBM Plex Sans" pitchFamily="34" charset="-122"/>
                <a:cs typeface="IBM Plex Sans" pitchFamily="34" charset="-120"/>
              </a:rPr>
              <a:t>2,936</a:t>
            </a:r>
            <a:endParaRPr lang="en-US" sz="1300" dirty="0"/>
          </a:p>
        </p:txBody>
      </p:sp>
      <p:sp>
        <p:nvSpPr>
          <p:cNvPr id="12" name="Text 9"/>
          <p:cNvSpPr/>
          <p:nvPr/>
        </p:nvSpPr>
        <p:spPr>
          <a:xfrm>
            <a:off x="8869680" y="2779776"/>
            <a:ext cx="1783080" cy="384048"/>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minimum_nights</a:t>
            </a:r>
            <a:endParaRPr lang="en-US" sz="1200" dirty="0"/>
          </a:p>
        </p:txBody>
      </p:sp>
      <p:sp>
        <p:nvSpPr>
          <p:cNvPr id="13" name="Text 10"/>
          <p:cNvSpPr/>
          <p:nvPr/>
        </p:nvSpPr>
        <p:spPr>
          <a:xfrm>
            <a:off x="10607040" y="2779776"/>
            <a:ext cx="804672" cy="384048"/>
          </a:xfrm>
          <a:prstGeom prst="rect">
            <a:avLst/>
          </a:prstGeom>
          <a:noFill/>
          <a:ln/>
        </p:spPr>
        <p:txBody>
          <a:bodyPr wrap="square" lIns="0" tIns="0" rIns="0" bIns="0" rtlCol="0" anchor="ctr"/>
          <a:lstStyle/>
          <a:p>
            <a:pPr algn="r" indent="0" marL="0">
              <a:buNone/>
            </a:pPr>
            <a:r>
              <a:rPr lang="en-US" sz="1300" b="1" dirty="0">
                <a:solidFill>
                  <a:srgbClr val="522CBA"/>
                </a:solidFill>
                <a:latin typeface="IBM Plex Sans" pitchFamily="34" charset="0"/>
                <a:ea typeface="IBM Plex Sans" pitchFamily="34" charset="-122"/>
                <a:cs typeface="IBM Plex Sans" pitchFamily="34" charset="-120"/>
              </a:rPr>
              <a:t>6,466</a:t>
            </a:r>
            <a:endParaRPr lang="en-US" sz="1300" dirty="0"/>
          </a:p>
        </p:txBody>
      </p:sp>
      <p:sp>
        <p:nvSpPr>
          <p:cNvPr id="14" name="Text 11"/>
          <p:cNvSpPr/>
          <p:nvPr/>
        </p:nvSpPr>
        <p:spPr>
          <a:xfrm>
            <a:off x="8869680" y="3273552"/>
            <a:ext cx="1783080" cy="384048"/>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number_of_reviews</a:t>
            </a:r>
            <a:endParaRPr lang="en-US" sz="1200" dirty="0"/>
          </a:p>
        </p:txBody>
      </p:sp>
      <p:sp>
        <p:nvSpPr>
          <p:cNvPr id="15" name="Text 12"/>
          <p:cNvSpPr/>
          <p:nvPr/>
        </p:nvSpPr>
        <p:spPr>
          <a:xfrm>
            <a:off x="10607040" y="3273552"/>
            <a:ext cx="804672" cy="384048"/>
          </a:xfrm>
          <a:prstGeom prst="rect">
            <a:avLst/>
          </a:prstGeom>
          <a:noFill/>
          <a:ln/>
        </p:spPr>
        <p:txBody>
          <a:bodyPr wrap="square" lIns="0" tIns="0" rIns="0" bIns="0" rtlCol="0" anchor="ctr"/>
          <a:lstStyle/>
          <a:p>
            <a:pPr algn="r" indent="0" marL="0">
              <a:buNone/>
            </a:pPr>
            <a:r>
              <a:rPr lang="en-US" sz="1300" b="1" dirty="0">
                <a:solidFill>
                  <a:srgbClr val="522CBA"/>
                </a:solidFill>
                <a:latin typeface="IBM Plex Sans" pitchFamily="34" charset="0"/>
                <a:ea typeface="IBM Plex Sans" pitchFamily="34" charset="-122"/>
                <a:cs typeface="IBM Plex Sans" pitchFamily="34" charset="-120"/>
              </a:rPr>
              <a:t>6,021</a:t>
            </a:r>
            <a:endParaRPr lang="en-US" sz="1300" dirty="0"/>
          </a:p>
        </p:txBody>
      </p:sp>
      <p:sp>
        <p:nvSpPr>
          <p:cNvPr id="16" name="Text 13"/>
          <p:cNvSpPr/>
          <p:nvPr/>
        </p:nvSpPr>
        <p:spPr>
          <a:xfrm>
            <a:off x="8869680" y="3767328"/>
            <a:ext cx="1783080" cy="384048"/>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reviews_per_month</a:t>
            </a:r>
            <a:endParaRPr lang="en-US" sz="1200" dirty="0"/>
          </a:p>
        </p:txBody>
      </p:sp>
      <p:sp>
        <p:nvSpPr>
          <p:cNvPr id="17" name="Text 14"/>
          <p:cNvSpPr/>
          <p:nvPr/>
        </p:nvSpPr>
        <p:spPr>
          <a:xfrm>
            <a:off x="10607040" y="3767328"/>
            <a:ext cx="804672" cy="384048"/>
          </a:xfrm>
          <a:prstGeom prst="rect">
            <a:avLst/>
          </a:prstGeom>
          <a:noFill/>
          <a:ln/>
        </p:spPr>
        <p:txBody>
          <a:bodyPr wrap="square" lIns="0" tIns="0" rIns="0" bIns="0" rtlCol="0" anchor="ctr"/>
          <a:lstStyle/>
          <a:p>
            <a:pPr algn="r" indent="0" marL="0">
              <a:buNone/>
            </a:pPr>
            <a:r>
              <a:rPr lang="en-US" sz="1300" b="1" dirty="0">
                <a:solidFill>
                  <a:srgbClr val="522CBA"/>
                </a:solidFill>
                <a:latin typeface="IBM Plex Sans" pitchFamily="34" charset="0"/>
                <a:ea typeface="IBM Plex Sans" pitchFamily="34" charset="-122"/>
                <a:cs typeface="IBM Plex Sans" pitchFamily="34" charset="-120"/>
              </a:rPr>
              <a:t>3,207</a:t>
            </a:r>
            <a:endParaRPr lang="en-US" sz="1300" dirty="0"/>
          </a:p>
        </p:txBody>
      </p:sp>
      <p:sp>
        <p:nvSpPr>
          <p:cNvPr id="18" name="Text 15"/>
          <p:cNvSpPr/>
          <p:nvPr/>
        </p:nvSpPr>
        <p:spPr>
          <a:xfrm>
            <a:off x="8869680" y="4261104"/>
            <a:ext cx="1783080" cy="384048"/>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host_listings</a:t>
            </a:r>
            <a:endParaRPr lang="en-US" sz="1200" dirty="0"/>
          </a:p>
        </p:txBody>
      </p:sp>
      <p:sp>
        <p:nvSpPr>
          <p:cNvPr id="19" name="Text 16"/>
          <p:cNvSpPr/>
          <p:nvPr/>
        </p:nvSpPr>
        <p:spPr>
          <a:xfrm>
            <a:off x="10607040" y="4261104"/>
            <a:ext cx="804672" cy="384048"/>
          </a:xfrm>
          <a:prstGeom prst="rect">
            <a:avLst/>
          </a:prstGeom>
          <a:noFill/>
          <a:ln/>
        </p:spPr>
        <p:txBody>
          <a:bodyPr wrap="square" lIns="0" tIns="0" rIns="0" bIns="0" rtlCol="0" anchor="ctr"/>
          <a:lstStyle/>
          <a:p>
            <a:pPr algn="r" indent="0" marL="0">
              <a:buNone/>
            </a:pPr>
            <a:r>
              <a:rPr lang="en-US" sz="1300" b="1" dirty="0">
                <a:solidFill>
                  <a:srgbClr val="522CBA"/>
                </a:solidFill>
                <a:latin typeface="IBM Plex Sans" pitchFamily="34" charset="0"/>
                <a:ea typeface="IBM Plex Sans" pitchFamily="34" charset="-122"/>
                <a:cs typeface="IBM Plex Sans" pitchFamily="34" charset="-120"/>
              </a:rPr>
              <a:t>6,895</a:t>
            </a:r>
            <a:endParaRPr lang="en-US" sz="1300" dirty="0"/>
          </a:p>
        </p:txBody>
      </p:sp>
      <p:sp>
        <p:nvSpPr>
          <p:cNvPr id="20" name="Text 17"/>
          <p:cNvSpPr/>
          <p:nvPr/>
        </p:nvSpPr>
        <p:spPr>
          <a:xfrm>
            <a:off x="8869680" y="4754880"/>
            <a:ext cx="1783080" cy="384048"/>
          </a:xfrm>
          <a:prstGeom prst="rect">
            <a:avLst/>
          </a:prstGeom>
          <a:noFill/>
          <a:ln/>
        </p:spPr>
        <p:txBody>
          <a:bodyPr wrap="square" lIns="0" tIns="0" rIns="0" bIns="0" rtlCol="0" anchor="ctr"/>
          <a:lstStyle/>
          <a:p>
            <a:pPr indent="0" marL="0">
              <a:buNone/>
            </a:pPr>
            <a:r>
              <a:rPr lang="en-US" sz="1200" dirty="0">
                <a:solidFill>
                  <a:srgbClr val="000000"/>
                </a:solidFill>
                <a:latin typeface="IBM Plex Sans" pitchFamily="34" charset="0"/>
                <a:ea typeface="IBM Plex Sans" pitchFamily="34" charset="-122"/>
                <a:cs typeface="IBM Plex Sans" pitchFamily="34" charset="-120"/>
              </a:rPr>
              <a:t>availability_365</a:t>
            </a:r>
            <a:endParaRPr lang="en-US" sz="1200" dirty="0"/>
          </a:p>
        </p:txBody>
      </p:sp>
      <p:sp>
        <p:nvSpPr>
          <p:cNvPr id="21" name="Text 18"/>
          <p:cNvSpPr/>
          <p:nvPr/>
        </p:nvSpPr>
        <p:spPr>
          <a:xfrm>
            <a:off x="10607040" y="4754880"/>
            <a:ext cx="804672" cy="384048"/>
          </a:xfrm>
          <a:prstGeom prst="rect">
            <a:avLst/>
          </a:prstGeom>
          <a:noFill/>
          <a:ln/>
        </p:spPr>
        <p:txBody>
          <a:bodyPr wrap="square" lIns="0" tIns="0" rIns="0" bIns="0" rtlCol="0" anchor="ctr"/>
          <a:lstStyle/>
          <a:p>
            <a:pPr algn="r" indent="0" marL="0">
              <a:buNone/>
            </a:pPr>
            <a:r>
              <a:rPr lang="en-US" sz="1300" b="1" dirty="0">
                <a:solidFill>
                  <a:srgbClr val="522CBA"/>
                </a:solidFill>
                <a:latin typeface="IBM Plex Sans" pitchFamily="34" charset="0"/>
                <a:ea typeface="IBM Plex Sans" pitchFamily="34" charset="-122"/>
                <a:cs typeface="IBM Plex Sans" pitchFamily="34" charset="-120"/>
              </a:rPr>
              <a:t>0</a:t>
            </a:r>
            <a:endParaRPr lang="en-US" sz="1300" dirty="0"/>
          </a:p>
        </p:txBody>
      </p:sp>
      <p:sp>
        <p:nvSpPr>
          <p:cNvPr id="22" name="Text 19"/>
          <p:cNvSpPr/>
          <p:nvPr/>
        </p:nvSpPr>
        <p:spPr>
          <a:xfrm>
            <a:off x="8869680" y="5321808"/>
            <a:ext cx="2606040" cy="548640"/>
          </a:xfrm>
          <a:prstGeom prst="rect">
            <a:avLst/>
          </a:prstGeom>
          <a:noFill/>
          <a:ln/>
        </p:spPr>
        <p:txBody>
          <a:bodyPr wrap="square" lIns="0" tIns="0" rIns="0" bIns="0" rtlCol="0" anchor="ctr"/>
          <a:lstStyle/>
          <a:p>
            <a:pPr indent="0" marL="0">
              <a:buNone/>
            </a:pPr>
            <a:r>
              <a:rPr lang="en-US" sz="1300" b="1" dirty="0">
                <a:solidFill>
                  <a:srgbClr val="522CBA"/>
                </a:solidFill>
                <a:latin typeface="IBM Plex Sans" pitchFamily="34" charset="0"/>
                <a:ea typeface="IBM Plex Sans" pitchFamily="34" charset="-122"/>
                <a:cs typeface="IBM Plex Sans" pitchFamily="34" charset="-120"/>
              </a:rPr>
              <a:t>Kept all. Capped only minimum_nights.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Everything skews right</a:t>
            </a:r>
            <a:endParaRPr lang="en-US" sz="3400" dirty="0"/>
          </a:p>
        </p:txBody>
      </p:sp>
      <p:sp>
        <p:nvSpPr>
          <p:cNvPr id="3" name="Shape 1"/>
          <p:cNvSpPr/>
          <p:nvPr/>
        </p:nvSpPr>
        <p:spPr>
          <a:xfrm>
            <a:off x="585216" y="1138428"/>
            <a:ext cx="146304" cy="146304"/>
          </a:xfrm>
          <a:prstGeom prst="ellipse">
            <a:avLst/>
          </a:prstGeom>
          <a:solidFill>
            <a:srgbClr val="F4A664"/>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Mean above median in all six</a:t>
            </a:r>
            <a:endParaRPr lang="en-US" sz="1500" dirty="0"/>
          </a:p>
        </p:txBody>
      </p:sp>
      <p:sp>
        <p:nvSpPr>
          <p:cNvPr id="5" name="Shape 3"/>
          <p:cNvSpPr/>
          <p:nvPr/>
        </p:nvSpPr>
        <p:spPr>
          <a:xfrm>
            <a:off x="566928" y="1572768"/>
            <a:ext cx="7863840" cy="4443984"/>
          </a:xfrm>
          <a:prstGeom prst="roundRect">
            <a:avLst>
              <a:gd name="adj" fmla="val 164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6" name="Image 0" descr="/tmp/claude-0/-home-user-Tuwaiq-Bootcamp/31d76967-b7b5-527c-bee1-8d14c00fddcd/scratchpad/plots/distributions_hist_1.png">    </p:cNvPr>
          <p:cNvPicPr>
            <a:picLocks noChangeAspect="1"/>
          </p:cNvPicPr>
          <p:nvPr/>
        </p:nvPicPr>
        <p:blipFill>
          <a:blip r:embed="rId1"/>
          <a:srcRect l="0" r="0" t="0" b="0"/>
          <a:stretch/>
        </p:blipFill>
        <p:spPr>
          <a:xfrm>
            <a:off x="676656" y="1682496"/>
            <a:ext cx="7644384" cy="4224528"/>
          </a:xfrm>
          <a:prstGeom prst="rect">
            <a:avLst/>
          </a:prstGeom>
        </p:spPr>
      </p:pic>
      <p:sp>
        <p:nvSpPr>
          <p:cNvPr id="7" name="Shape 4"/>
          <p:cNvSpPr/>
          <p:nvPr/>
        </p:nvSpPr>
        <p:spPr>
          <a:xfrm>
            <a:off x="8613648" y="1572768"/>
            <a:ext cx="3026664" cy="4443984"/>
          </a:xfrm>
          <a:prstGeom prst="roundRect">
            <a:avLst>
              <a:gd name="adj" fmla="val 241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8" name="Shape 5"/>
          <p:cNvSpPr/>
          <p:nvPr/>
        </p:nvSpPr>
        <p:spPr>
          <a:xfrm>
            <a:off x="8869680" y="1847088"/>
            <a:ext cx="137160" cy="137160"/>
          </a:xfrm>
          <a:prstGeom prst="ellipse">
            <a:avLst/>
          </a:prstGeom>
          <a:solidFill>
            <a:srgbClr val="57E3D8"/>
          </a:solidFill>
          <a:ln w="12700">
            <a:solidFill>
              <a:srgbClr val="333333"/>
            </a:solidFill>
            <a:prstDash val="solid"/>
          </a:ln>
        </p:spPr>
      </p:sp>
      <p:sp>
        <p:nvSpPr>
          <p:cNvPr id="9" name="Text 6"/>
          <p:cNvSpPr/>
          <p:nvPr/>
        </p:nvSpPr>
        <p:spPr>
          <a:xfrm>
            <a:off x="8869680" y="2048256"/>
            <a:ext cx="2560320" cy="548640"/>
          </a:xfrm>
          <a:prstGeom prst="rect">
            <a:avLst/>
          </a:prstGeom>
          <a:noFill/>
          <a:ln/>
        </p:spPr>
        <p:txBody>
          <a:bodyPr wrap="square" lIns="0" tIns="0" rIns="0" bIns="0" rtlCol="0" anchor="ctr"/>
          <a:lstStyle/>
          <a:p>
            <a:pPr indent="0" marL="0">
              <a:buNone/>
            </a:pPr>
            <a:r>
              <a:rPr lang="en-US" sz="2900" b="1" dirty="0">
                <a:solidFill>
                  <a:srgbClr val="9B78F7"/>
                </a:solidFill>
                <a:latin typeface="IBM Plex Sans" pitchFamily="34" charset="0"/>
                <a:ea typeface="IBM Plex Sans" pitchFamily="34" charset="-122"/>
                <a:cs typeface="IBM Plex Sans" pitchFamily="34" charset="-120"/>
              </a:rPr>
              <a:t>$152</a:t>
            </a:r>
            <a:endParaRPr lang="en-US" sz="2900" dirty="0"/>
          </a:p>
        </p:txBody>
      </p:sp>
      <p:sp>
        <p:nvSpPr>
          <p:cNvPr id="10" name="Text 7"/>
          <p:cNvSpPr/>
          <p:nvPr/>
        </p:nvSpPr>
        <p:spPr>
          <a:xfrm>
            <a:off x="8869680" y="2578608"/>
            <a:ext cx="2560320" cy="31089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mean</a:t>
            </a:r>
            <a:endParaRPr lang="en-US" sz="1300" dirty="0"/>
          </a:p>
        </p:txBody>
      </p:sp>
      <p:sp>
        <p:nvSpPr>
          <p:cNvPr id="11" name="Text 8"/>
          <p:cNvSpPr/>
          <p:nvPr/>
        </p:nvSpPr>
        <p:spPr>
          <a:xfrm>
            <a:off x="8869680" y="3127248"/>
            <a:ext cx="2560320" cy="566928"/>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$105</a:t>
            </a:r>
            <a:endParaRPr lang="en-US" sz="3400" dirty="0"/>
          </a:p>
        </p:txBody>
      </p:sp>
      <p:sp>
        <p:nvSpPr>
          <p:cNvPr id="12" name="Text 9"/>
          <p:cNvSpPr/>
          <p:nvPr/>
        </p:nvSpPr>
        <p:spPr>
          <a:xfrm>
            <a:off x="8869680" y="3712464"/>
            <a:ext cx="2606040" cy="457200"/>
          </a:xfrm>
          <a:prstGeom prst="rect">
            <a:avLst/>
          </a:prstGeom>
          <a:noFill/>
          <a:ln/>
        </p:spPr>
        <p:txBody>
          <a:bodyPr wrap="square" lIns="0" tIns="0" rIns="0" bIns="0" rtlCol="0" anchor="ctr"/>
          <a:lstStyle/>
          <a:p>
            <a:pPr indent="0" marL="0">
              <a:buNone/>
            </a:pPr>
            <a:r>
              <a:rPr lang="en-US" sz="1300" b="1" dirty="0">
                <a:solidFill>
                  <a:srgbClr val="000000"/>
                </a:solidFill>
                <a:latin typeface="IBM Plex Sans" pitchFamily="34" charset="0"/>
                <a:ea typeface="IBM Plex Sans" pitchFamily="34" charset="-122"/>
                <a:cs typeface="IBM Plex Sans" pitchFamily="34" charset="-120"/>
              </a:rPr>
              <a:t>median is the honest number</a:t>
            </a:r>
            <a:endParaRPr lang="en-US" sz="1300" dirty="0"/>
          </a:p>
        </p:txBody>
      </p:sp>
      <p:sp>
        <p:nvSpPr>
          <p:cNvPr id="13" name="Text 10"/>
          <p:cNvSpPr/>
          <p:nvPr/>
        </p:nvSpPr>
        <p:spPr>
          <a:xfrm>
            <a:off x="8869680" y="4370832"/>
            <a:ext cx="2606040" cy="1371600"/>
          </a:xfrm>
          <a:prstGeom prst="rect">
            <a:avLst/>
          </a:prstGeom>
          <a:noFill/>
          <a:ln/>
        </p:spPr>
        <p:txBody>
          <a:bodyPr wrap="square" lIns="0" tIns="0" rIns="0" bIns="0" rtlCol="0" anchor="ctr"/>
          <a:lstStyle/>
          <a:p>
            <a:pPr marL="342900" indent="-342900">
              <a:spcAft>
                <a:spcPts val="1100"/>
              </a:spcAft>
              <a:buSzPct val="100000"/>
              <a:buChar char="•"/>
            </a:pPr>
            <a:r>
              <a:rPr lang="en-US" sz="1300" dirty="0">
                <a:solidFill>
                  <a:srgbClr val="000000"/>
                </a:solidFill>
                <a:latin typeface="IBM Plex Sans" pitchFamily="34" charset="0"/>
                <a:ea typeface="IBM Plex Sans" pitchFamily="34" charset="-122"/>
                <a:cs typeface="IBM Plex Sans" pitchFamily="34" charset="-120"/>
              </a:rPr>
              <a:t>Long tail of luxury listings</a:t>
            </a:r>
            <a:endParaRPr lang="en-US" sz="1300" dirty="0"/>
          </a:p>
          <a:p>
            <a:pPr marL="342900" indent="-342900">
              <a:spcAft>
                <a:spcPts val="1100"/>
              </a:spcAft>
              <a:buSzPct val="100000"/>
              <a:buChar char="•"/>
            </a:pPr>
            <a:r>
              <a:rPr lang="en-US" sz="1300" dirty="0">
                <a:solidFill>
                  <a:srgbClr val="000000"/>
                </a:solidFill>
                <a:latin typeface="IBM Plex Sans" pitchFamily="34" charset="0"/>
                <a:ea typeface="IBM Plex Sans" pitchFamily="34" charset="-122"/>
                <a:cs typeface="IBM Plex Sans" pitchFamily="34" charset="-120"/>
              </a:rPr>
              <a:t>availability is bimodal</a:t>
            </a:r>
            <a:endParaRPr lang="en-US" sz="1300" dirty="0"/>
          </a:p>
          <a:p>
            <a:pPr marL="342900" indent="-342900">
              <a:spcAft>
                <a:spcPts val="1100"/>
              </a:spcAft>
              <a:buSzPct val="100000"/>
              <a:buChar char="•"/>
            </a:pPr>
            <a:r>
              <a:rPr lang="en-US" sz="1300" dirty="0">
                <a:solidFill>
                  <a:srgbClr val="000000"/>
                </a:solidFill>
                <a:latin typeface="IBM Plex Sans" pitchFamily="34" charset="0"/>
                <a:ea typeface="IBM Plex Sans" pitchFamily="34" charset="-122"/>
                <a:cs typeface="IBM Plex Sans" pitchFamily="34" charset="-120"/>
              </a:rPr>
              <a:t>0 days or 365 with nothing between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A concentrated market</a:t>
            </a:r>
            <a:endParaRPr lang="en-US" sz="3400" dirty="0"/>
          </a:p>
        </p:txBody>
      </p:sp>
      <p:sp>
        <p:nvSpPr>
          <p:cNvPr id="3" name="Shape 1"/>
          <p:cNvSpPr/>
          <p:nvPr/>
        </p:nvSpPr>
        <p:spPr>
          <a:xfrm>
            <a:off x="585216" y="1138428"/>
            <a:ext cx="146304" cy="146304"/>
          </a:xfrm>
          <a:prstGeom prst="ellipse">
            <a:avLst/>
          </a:prstGeom>
          <a:solidFill>
            <a:srgbClr val="57E3D8"/>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Two room types and two boroughs</a:t>
            </a:r>
            <a:endParaRPr lang="en-US" sz="1500" dirty="0"/>
          </a:p>
        </p:txBody>
      </p:sp>
      <p:sp>
        <p:nvSpPr>
          <p:cNvPr id="5" name="Shape 3"/>
          <p:cNvSpPr/>
          <p:nvPr/>
        </p:nvSpPr>
        <p:spPr>
          <a:xfrm>
            <a:off x="566928" y="1572768"/>
            <a:ext cx="3547872" cy="3200400"/>
          </a:xfrm>
          <a:prstGeom prst="roundRect">
            <a:avLst>
              <a:gd name="adj" fmla="val 228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6" name="Image 0" descr="/tmp/claude-0/-home-user-Tuwaiq-Bootcamp/31d76967-b7b5-527c-bee1-8d14c00fddcd/scratchpad/plots/categorical_1.png">    </p:cNvPr>
          <p:cNvPicPr>
            <a:picLocks noChangeAspect="1"/>
          </p:cNvPicPr>
          <p:nvPr/>
        </p:nvPicPr>
        <p:blipFill>
          <a:blip r:embed="rId1"/>
          <a:srcRect l="0" r="0" t="0" b="0"/>
          <a:stretch/>
        </p:blipFill>
        <p:spPr>
          <a:xfrm>
            <a:off x="676656" y="1682496"/>
            <a:ext cx="3328416" cy="2980944"/>
          </a:xfrm>
          <a:prstGeom prst="rect">
            <a:avLst/>
          </a:prstGeom>
        </p:spPr>
      </p:pic>
      <p:sp>
        <p:nvSpPr>
          <p:cNvPr id="7" name="Shape 4"/>
          <p:cNvSpPr/>
          <p:nvPr/>
        </p:nvSpPr>
        <p:spPr>
          <a:xfrm>
            <a:off x="4325112" y="1572768"/>
            <a:ext cx="3547872" cy="3200400"/>
          </a:xfrm>
          <a:prstGeom prst="roundRect">
            <a:avLst>
              <a:gd name="adj" fmla="val 228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8" name="Image 1" descr="/tmp/claude-0/-home-user-Tuwaiq-Bootcamp/31d76967-b7b5-527c-bee1-8d14c00fddcd/scratchpad/plots/categorical_2.png">    </p:cNvPr>
          <p:cNvPicPr>
            <a:picLocks noChangeAspect="1"/>
          </p:cNvPicPr>
          <p:nvPr/>
        </p:nvPicPr>
        <p:blipFill>
          <a:blip r:embed="rId2"/>
          <a:srcRect l="0" r="0" t="0" b="0"/>
          <a:stretch/>
        </p:blipFill>
        <p:spPr>
          <a:xfrm>
            <a:off x="4434840" y="1682496"/>
            <a:ext cx="3328416" cy="2980944"/>
          </a:xfrm>
          <a:prstGeom prst="rect">
            <a:avLst/>
          </a:prstGeom>
        </p:spPr>
      </p:pic>
      <p:sp>
        <p:nvSpPr>
          <p:cNvPr id="9" name="Shape 5"/>
          <p:cNvSpPr/>
          <p:nvPr/>
        </p:nvSpPr>
        <p:spPr>
          <a:xfrm>
            <a:off x="8083296" y="1572768"/>
            <a:ext cx="3557016" cy="3200400"/>
          </a:xfrm>
          <a:prstGeom prst="roundRect">
            <a:avLst>
              <a:gd name="adj" fmla="val 228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10" name="Image 2" descr="/tmp/claude-0/-home-user-Tuwaiq-Bootcamp/31d76967-b7b5-527c-bee1-8d14c00fddcd/scratchpad/plots/categorical_3.png">    </p:cNvPr>
          <p:cNvPicPr>
            <a:picLocks noChangeAspect="1"/>
          </p:cNvPicPr>
          <p:nvPr/>
        </p:nvPicPr>
        <p:blipFill>
          <a:blip r:embed="rId3"/>
          <a:srcRect l="0" r="0" t="0" b="0"/>
          <a:stretch/>
        </p:blipFill>
        <p:spPr>
          <a:xfrm>
            <a:off x="8193024" y="1682496"/>
            <a:ext cx="3337560" cy="2980944"/>
          </a:xfrm>
          <a:prstGeom prst="rect">
            <a:avLst/>
          </a:prstGeom>
        </p:spPr>
      </p:pic>
      <p:sp>
        <p:nvSpPr>
          <p:cNvPr id="11" name="Text 6"/>
          <p:cNvSpPr/>
          <p:nvPr/>
        </p:nvSpPr>
        <p:spPr>
          <a:xfrm>
            <a:off x="566928" y="4809744"/>
            <a:ext cx="354787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Entire 52% · Private 46% · Shared 2%</a:t>
            </a:r>
            <a:endParaRPr lang="en-US" sz="1200" dirty="0"/>
          </a:p>
        </p:txBody>
      </p:sp>
      <p:sp>
        <p:nvSpPr>
          <p:cNvPr id="12" name="Text 7"/>
          <p:cNvSpPr/>
          <p:nvPr/>
        </p:nvSpPr>
        <p:spPr>
          <a:xfrm>
            <a:off x="4325112" y="4809744"/>
            <a:ext cx="354787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Manhattan and Brooklyn are 85%</a:t>
            </a:r>
            <a:endParaRPr lang="en-US" sz="1200" dirty="0"/>
          </a:p>
        </p:txBody>
      </p:sp>
      <p:sp>
        <p:nvSpPr>
          <p:cNvPr id="13" name="Text 8"/>
          <p:cNvSpPr/>
          <p:nvPr/>
        </p:nvSpPr>
        <p:spPr>
          <a:xfrm>
            <a:off x="8083296" y="4809744"/>
            <a:ext cx="3557016"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Room type within each borough</a:t>
            </a:r>
            <a:endParaRPr lang="en-US" sz="1200" dirty="0"/>
          </a:p>
        </p:txBody>
      </p:sp>
      <p:sp>
        <p:nvSpPr>
          <p:cNvPr id="14" name="Shape 9"/>
          <p:cNvSpPr/>
          <p:nvPr/>
        </p:nvSpPr>
        <p:spPr>
          <a:xfrm>
            <a:off x="566928" y="5230368"/>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5" name="Shape 10"/>
          <p:cNvSpPr/>
          <p:nvPr/>
        </p:nvSpPr>
        <p:spPr>
          <a:xfrm>
            <a:off x="859536" y="5568696"/>
            <a:ext cx="164592" cy="164592"/>
          </a:xfrm>
          <a:prstGeom prst="ellipse">
            <a:avLst/>
          </a:prstGeom>
          <a:solidFill>
            <a:srgbClr val="F4A664"/>
          </a:solidFill>
          <a:ln w="12700">
            <a:solidFill>
              <a:srgbClr val="333333"/>
            </a:solidFill>
            <a:prstDash val="solid"/>
          </a:ln>
        </p:spPr>
      </p:sp>
      <p:sp>
        <p:nvSpPr>
          <p:cNvPr id="16" name="Text 11"/>
          <p:cNvSpPr/>
          <p:nvPr/>
        </p:nvSpPr>
        <p:spPr>
          <a:xfrm>
            <a:off x="1170432" y="5358384"/>
            <a:ext cx="10241280" cy="585216"/>
          </a:xfrm>
          <a:prstGeom prst="rect">
            <a:avLst/>
          </a:prstGeom>
          <a:noFill/>
          <a:ln/>
        </p:spPr>
        <p:txBody>
          <a:bodyPr wrap="square" lIns="0" tIns="0" rIns="0" bIns="0" rtlCol="0" anchor="ctr"/>
          <a:lstStyle/>
          <a:p>
            <a:pPr indent="0" marL="0">
              <a:buNone/>
            </a:pPr>
            <a:r>
              <a:rPr lang="en-US" sz="1500" b="1" dirty="0">
                <a:solidFill>
                  <a:srgbClr val="522CBA"/>
                </a:solidFill>
                <a:latin typeface="IBM Plex Sans" pitchFamily="34" charset="0"/>
                <a:ea typeface="IBM Plex Sans" pitchFamily="34" charset="-122"/>
                <a:cs typeface="IBM Plex Sans" pitchFamily="34" charset="-120"/>
              </a:rPr>
              <a:t>Both columns are badly imbalanced. Minority classes are too small to model.</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Price ignores the numbers</a:t>
            </a:r>
            <a:endParaRPr lang="en-US" sz="3400" dirty="0"/>
          </a:p>
        </p:txBody>
      </p:sp>
      <p:sp>
        <p:nvSpPr>
          <p:cNvPr id="3" name="Shape 1"/>
          <p:cNvSpPr/>
          <p:nvPr/>
        </p:nvSpPr>
        <p:spPr>
          <a:xfrm>
            <a:off x="585216" y="1138428"/>
            <a:ext cx="146304" cy="146304"/>
          </a:xfrm>
          <a:prstGeom prst="ellipse">
            <a:avLst/>
          </a:prstGeom>
          <a:solidFill>
            <a:srgbClr val="F4A664"/>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Every correlation under 0.08</a:t>
            </a:r>
            <a:endParaRPr lang="en-US" sz="1500" dirty="0"/>
          </a:p>
        </p:txBody>
      </p:sp>
      <p:sp>
        <p:nvSpPr>
          <p:cNvPr id="5" name="Shape 3"/>
          <p:cNvSpPr/>
          <p:nvPr/>
        </p:nvSpPr>
        <p:spPr>
          <a:xfrm>
            <a:off x="566928" y="1572768"/>
            <a:ext cx="3977640" cy="3749040"/>
          </a:xfrm>
          <a:prstGeom prst="roundRect">
            <a:avLst>
              <a:gd name="adj" fmla="val 1951"/>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6" name="Image 0" descr="/tmp/claude-0/-home-user-Tuwaiq-Bootcamp/31d76967-b7b5-527c-bee1-8d14c00fddcd/scratchpad/plots/relationships_1.png">    </p:cNvPr>
          <p:cNvPicPr>
            <a:picLocks noChangeAspect="1"/>
          </p:cNvPicPr>
          <p:nvPr/>
        </p:nvPicPr>
        <p:blipFill>
          <a:blip r:embed="rId1"/>
          <a:srcRect l="0" r="0" t="0" b="0"/>
          <a:stretch/>
        </p:blipFill>
        <p:spPr>
          <a:xfrm>
            <a:off x="676656" y="1682496"/>
            <a:ext cx="3758184" cy="3529584"/>
          </a:xfrm>
          <a:prstGeom prst="rect">
            <a:avLst/>
          </a:prstGeom>
        </p:spPr>
      </p:pic>
      <p:sp>
        <p:nvSpPr>
          <p:cNvPr id="7" name="Shape 4"/>
          <p:cNvSpPr/>
          <p:nvPr/>
        </p:nvSpPr>
        <p:spPr>
          <a:xfrm>
            <a:off x="4754880" y="1572768"/>
            <a:ext cx="3401568" cy="3749040"/>
          </a:xfrm>
          <a:prstGeom prst="roundRect">
            <a:avLst>
              <a:gd name="adj" fmla="val 2151"/>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8" name="Image 1" descr="/tmp/claude-0/-home-user-Tuwaiq-Bootcamp/31d76967-b7b5-527c-bee1-8d14c00fddcd/scratchpad/plots/relationships_2.png">    </p:cNvPr>
          <p:cNvPicPr>
            <a:picLocks noChangeAspect="1"/>
          </p:cNvPicPr>
          <p:nvPr/>
        </p:nvPicPr>
        <p:blipFill>
          <a:blip r:embed="rId2"/>
          <a:srcRect l="0" r="0" t="0" b="0"/>
          <a:stretch/>
        </p:blipFill>
        <p:spPr>
          <a:xfrm>
            <a:off x="4864608" y="1682496"/>
            <a:ext cx="3182112" cy="3529584"/>
          </a:xfrm>
          <a:prstGeom prst="rect">
            <a:avLst/>
          </a:prstGeom>
        </p:spPr>
      </p:pic>
      <p:sp>
        <p:nvSpPr>
          <p:cNvPr id="9" name="Shape 5"/>
          <p:cNvSpPr/>
          <p:nvPr/>
        </p:nvSpPr>
        <p:spPr>
          <a:xfrm>
            <a:off x="8366760" y="1572768"/>
            <a:ext cx="3273552" cy="3749040"/>
          </a:xfrm>
          <a:prstGeom prst="roundRect">
            <a:avLst>
              <a:gd name="adj" fmla="val 2235"/>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10" name="Image 2" descr="/tmp/claude-0/-home-user-Tuwaiq-Bootcamp/31d76967-b7b5-527c-bee1-8d14c00fddcd/scratchpad/plots/relationships_3.png">    </p:cNvPr>
          <p:cNvPicPr>
            <a:picLocks noChangeAspect="1"/>
          </p:cNvPicPr>
          <p:nvPr/>
        </p:nvPicPr>
        <p:blipFill>
          <a:blip r:embed="rId3"/>
          <a:srcRect l="0" r="0" t="0" b="0"/>
          <a:stretch/>
        </p:blipFill>
        <p:spPr>
          <a:xfrm>
            <a:off x="8476488" y="1682496"/>
            <a:ext cx="3054096" cy="3529584"/>
          </a:xfrm>
          <a:prstGeom prst="rect">
            <a:avLst/>
          </a:prstGeom>
        </p:spPr>
      </p:pic>
      <p:sp>
        <p:nvSpPr>
          <p:cNvPr id="11" name="Text 6"/>
          <p:cNvSpPr/>
          <p:nvPr/>
        </p:nvSpPr>
        <p:spPr>
          <a:xfrm>
            <a:off x="566928" y="5358384"/>
            <a:ext cx="3977640"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Correlation matrix</a:t>
            </a:r>
            <a:endParaRPr lang="en-US" sz="1200" dirty="0"/>
          </a:p>
        </p:txBody>
      </p:sp>
      <p:sp>
        <p:nvSpPr>
          <p:cNvPr id="12" name="Text 7"/>
          <p:cNvSpPr/>
          <p:nvPr/>
        </p:nvSpPr>
        <p:spPr>
          <a:xfrm>
            <a:off x="4754880" y="5358384"/>
            <a:ext cx="3401568"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Price vs reviews</a:t>
            </a:r>
            <a:endParaRPr lang="en-US" sz="1200" dirty="0"/>
          </a:p>
        </p:txBody>
      </p:sp>
      <p:sp>
        <p:nvSpPr>
          <p:cNvPr id="13" name="Text 8"/>
          <p:cNvSpPr/>
          <p:nvPr/>
        </p:nvSpPr>
        <p:spPr>
          <a:xfrm>
            <a:off x="8366760" y="5358384"/>
            <a:ext cx="327355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Price vs availability</a:t>
            </a:r>
            <a:endParaRPr lang="en-US" sz="1200" dirty="0"/>
          </a:p>
        </p:txBody>
      </p:sp>
      <p:sp>
        <p:nvSpPr>
          <p:cNvPr id="14" name="Shape 9"/>
          <p:cNvSpPr/>
          <p:nvPr/>
        </p:nvSpPr>
        <p:spPr>
          <a:xfrm>
            <a:off x="4224528" y="5971032"/>
            <a:ext cx="173736" cy="173736"/>
          </a:xfrm>
          <a:prstGeom prst="ellipse">
            <a:avLst/>
          </a:prstGeom>
          <a:solidFill>
            <a:srgbClr val="57E3D8"/>
          </a:solidFill>
          <a:ln w="12700">
            <a:solidFill>
              <a:srgbClr val="333333"/>
            </a:solidFill>
            <a:prstDash val="solid"/>
          </a:ln>
        </p:spPr>
      </p:sp>
      <p:sp>
        <p:nvSpPr>
          <p:cNvPr id="15" name="Text 10"/>
          <p:cNvSpPr/>
          <p:nvPr/>
        </p:nvSpPr>
        <p:spPr>
          <a:xfrm>
            <a:off x="4553712" y="5852160"/>
            <a:ext cx="7315200" cy="457200"/>
          </a:xfrm>
          <a:prstGeom prst="rect">
            <a:avLst/>
          </a:prstGeom>
          <a:noFill/>
          <a:ln/>
        </p:spPr>
        <p:txBody>
          <a:bodyPr wrap="square" lIns="0" tIns="0" rIns="0" bIns="0" rtlCol="0" anchor="ctr"/>
          <a:lstStyle/>
          <a:p>
            <a:pPr indent="0" marL="0">
              <a:buNone/>
            </a:pPr>
            <a:r>
              <a:rPr lang="en-US" sz="2100" b="1" dirty="0">
                <a:solidFill>
                  <a:srgbClr val="522CBA"/>
                </a:solidFill>
                <a:latin typeface="IBM Plex Sans" pitchFamily="34" charset="0"/>
                <a:ea typeface="IBM Plex Sans" pitchFamily="34" charset="-122"/>
                <a:cs typeface="IBM Plex Sans" pitchFamily="34" charset="-120"/>
              </a:rPr>
              <a:t>Not activity. Location and room type.</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Where the money is</a:t>
            </a:r>
            <a:endParaRPr lang="en-US" sz="3400" dirty="0"/>
          </a:p>
        </p:txBody>
      </p:sp>
      <p:sp>
        <p:nvSpPr>
          <p:cNvPr id="3" name="Shape 1"/>
          <p:cNvSpPr/>
          <p:nvPr/>
        </p:nvSpPr>
        <p:spPr>
          <a:xfrm>
            <a:off x="585216" y="1138428"/>
            <a:ext cx="146304" cy="146304"/>
          </a:xfrm>
          <a:prstGeom prst="ellipse">
            <a:avLst/>
          </a:prstGeom>
          <a:solidFill>
            <a:srgbClr val="57E3D8"/>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Histogram capped at $1,000</a:t>
            </a:r>
            <a:endParaRPr lang="en-US" sz="1500" dirty="0"/>
          </a:p>
        </p:txBody>
      </p:sp>
      <p:sp>
        <p:nvSpPr>
          <p:cNvPr id="5" name="Shape 3"/>
          <p:cNvSpPr/>
          <p:nvPr/>
        </p:nvSpPr>
        <p:spPr>
          <a:xfrm>
            <a:off x="566928" y="1572768"/>
            <a:ext cx="5532120"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6" name="Image 0" descr="/tmp/claude-0/-home-user-Tuwaiq-Bootcamp/31d76967-b7b5-527c-bee1-8d14c00fddcd/scratchpad/plots/viz_1.png">    </p:cNvPr>
          <p:cNvPicPr>
            <a:picLocks noChangeAspect="1"/>
          </p:cNvPicPr>
          <p:nvPr/>
        </p:nvPicPr>
        <p:blipFill>
          <a:blip r:embed="rId1"/>
          <a:srcRect l="0" r="0" t="0" b="0"/>
          <a:stretch/>
        </p:blipFill>
        <p:spPr>
          <a:xfrm>
            <a:off x="676656" y="1682496"/>
            <a:ext cx="5312664" cy="3712464"/>
          </a:xfrm>
          <a:prstGeom prst="rect">
            <a:avLst/>
          </a:prstGeom>
        </p:spPr>
      </p:pic>
      <p:sp>
        <p:nvSpPr>
          <p:cNvPr id="7" name="Shape 4"/>
          <p:cNvSpPr/>
          <p:nvPr/>
        </p:nvSpPr>
        <p:spPr>
          <a:xfrm>
            <a:off x="6309360" y="1572768"/>
            <a:ext cx="5330952"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8" name="Image 1" descr="/tmp/claude-0/-home-user-Tuwaiq-Bootcamp/31d76967-b7b5-527c-bee1-8d14c00fddcd/scratchpad/plots/viz_2.png">    </p:cNvPr>
          <p:cNvPicPr>
            <a:picLocks noChangeAspect="1"/>
          </p:cNvPicPr>
          <p:nvPr/>
        </p:nvPicPr>
        <p:blipFill>
          <a:blip r:embed="rId2"/>
          <a:srcRect l="0" r="0" t="0" b="0"/>
          <a:stretch/>
        </p:blipFill>
        <p:spPr>
          <a:xfrm>
            <a:off x="6419088" y="1682496"/>
            <a:ext cx="5111496" cy="3712464"/>
          </a:xfrm>
          <a:prstGeom prst="rect">
            <a:avLst/>
          </a:prstGeom>
        </p:spPr>
      </p:pic>
      <p:sp>
        <p:nvSpPr>
          <p:cNvPr id="9" name="Text 5"/>
          <p:cNvSpPr/>
          <p:nvPr/>
        </p:nvSpPr>
        <p:spPr>
          <a:xfrm>
            <a:off x="566928" y="5541264"/>
            <a:ext cx="5532120"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Most listings under $200</a:t>
            </a:r>
            <a:endParaRPr lang="en-US" sz="1200" dirty="0"/>
          </a:p>
        </p:txBody>
      </p:sp>
      <p:sp>
        <p:nvSpPr>
          <p:cNvPr id="10" name="Text 6"/>
          <p:cNvSpPr/>
          <p:nvPr/>
        </p:nvSpPr>
        <p:spPr>
          <a:xfrm>
            <a:off x="6309360" y="5541264"/>
            <a:ext cx="533095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Manhattan has the widest spread</a:t>
            </a:r>
            <a:endParaRPr lang="en-US" sz="1200" dirty="0"/>
          </a:p>
        </p:txBody>
      </p:sp>
      <p:sp>
        <p:nvSpPr>
          <p:cNvPr id="11" name="Text 7"/>
          <p:cNvSpPr/>
          <p:nvPr/>
        </p:nvSpPr>
        <p:spPr>
          <a:xfrm>
            <a:off x="566928" y="5961888"/>
            <a:ext cx="11073384" cy="411480"/>
          </a:xfrm>
          <a:prstGeom prst="rect">
            <a:avLst/>
          </a:prstGeom>
          <a:noFill/>
          <a:ln/>
        </p:spPr>
        <p:txBody>
          <a:bodyPr wrap="square" lIns="0" tIns="0" rIns="0" bIns="0" rtlCol="0" anchor="ctr"/>
          <a:lstStyle/>
          <a:p>
            <a:pPr algn="ctr" indent="0" marL="0">
              <a:buNone/>
            </a:pPr>
            <a:r>
              <a:rPr lang="en-US" sz="1500" b="1" dirty="0">
                <a:solidFill>
                  <a:srgbClr val="9B78F7"/>
                </a:solidFill>
                <a:latin typeface="IBM Plex Sans" pitchFamily="34" charset="0"/>
                <a:ea typeface="IBM Plex Sans" pitchFamily="34" charset="-122"/>
                <a:cs typeface="IBM Plex Sans" pitchFamily="34" charset="-120"/>
              </a:rPr>
              <a:t>Manhattan $196  ·  Brooklyn $125  ·  Staten Island $115  ·  Queens $100  ·  Bronx $88</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The premium guests pay</a:t>
            </a:r>
            <a:endParaRPr lang="en-US" sz="3400" dirty="0"/>
          </a:p>
        </p:txBody>
      </p:sp>
      <p:sp>
        <p:nvSpPr>
          <p:cNvPr id="3" name="Shape 1"/>
          <p:cNvSpPr/>
          <p:nvPr/>
        </p:nvSpPr>
        <p:spPr>
          <a:xfrm>
            <a:off x="585216" y="1138428"/>
            <a:ext cx="146304" cy="146304"/>
          </a:xfrm>
          <a:prstGeom prst="ellipse">
            <a:avLst/>
          </a:prstGeom>
          <a:solidFill>
            <a:srgbClr val="F4A664"/>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Room type is the sharpest divide</a:t>
            </a:r>
            <a:endParaRPr lang="en-US" sz="1500" dirty="0"/>
          </a:p>
        </p:txBody>
      </p:sp>
      <p:sp>
        <p:nvSpPr>
          <p:cNvPr id="5" name="Shape 3"/>
          <p:cNvSpPr/>
          <p:nvPr/>
        </p:nvSpPr>
        <p:spPr>
          <a:xfrm>
            <a:off x="566928" y="1572768"/>
            <a:ext cx="5532120"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6" name="Image 0" descr="/tmp/claude-0/-home-user-Tuwaiq-Bootcamp/31d76967-b7b5-527c-bee1-8d14c00fddcd/scratchpad/plots/viz_3.png">    </p:cNvPr>
          <p:cNvPicPr>
            <a:picLocks noChangeAspect="1"/>
          </p:cNvPicPr>
          <p:nvPr/>
        </p:nvPicPr>
        <p:blipFill>
          <a:blip r:embed="rId1"/>
          <a:srcRect l="0" r="0" t="0" b="0"/>
          <a:stretch/>
        </p:blipFill>
        <p:spPr>
          <a:xfrm>
            <a:off x="676656" y="1682496"/>
            <a:ext cx="5312664" cy="3712464"/>
          </a:xfrm>
          <a:prstGeom prst="rect">
            <a:avLst/>
          </a:prstGeom>
        </p:spPr>
      </p:pic>
      <p:sp>
        <p:nvSpPr>
          <p:cNvPr id="7" name="Shape 4"/>
          <p:cNvSpPr/>
          <p:nvPr/>
        </p:nvSpPr>
        <p:spPr>
          <a:xfrm>
            <a:off x="6309360" y="1572768"/>
            <a:ext cx="5330952"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8" name="Image 1" descr="/tmp/claude-0/-home-user-Tuwaiq-Bootcamp/31d76967-b7b5-527c-bee1-8d14c00fddcd/scratchpad/plots/viz_4.png">    </p:cNvPr>
          <p:cNvPicPr>
            <a:picLocks noChangeAspect="1"/>
          </p:cNvPicPr>
          <p:nvPr/>
        </p:nvPicPr>
        <p:blipFill>
          <a:blip r:embed="rId2"/>
          <a:srcRect l="0" r="0" t="0" b="0"/>
          <a:stretch/>
        </p:blipFill>
        <p:spPr>
          <a:xfrm>
            <a:off x="6419088" y="1682496"/>
            <a:ext cx="5111496" cy="3712464"/>
          </a:xfrm>
          <a:prstGeom prst="rect">
            <a:avLst/>
          </a:prstGeom>
        </p:spPr>
      </p:pic>
      <p:sp>
        <p:nvSpPr>
          <p:cNvPr id="9" name="Text 5"/>
          <p:cNvSpPr/>
          <p:nvPr/>
        </p:nvSpPr>
        <p:spPr>
          <a:xfrm>
            <a:off x="566928" y="5541264"/>
            <a:ext cx="5532120"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Entire $211 · Private $90 · Shared $71</a:t>
            </a:r>
            <a:endParaRPr lang="en-US" sz="1200" dirty="0"/>
          </a:p>
        </p:txBody>
      </p:sp>
      <p:sp>
        <p:nvSpPr>
          <p:cNvPr id="10" name="Text 6"/>
          <p:cNvSpPr/>
          <p:nvPr/>
        </p:nvSpPr>
        <p:spPr>
          <a:xfrm>
            <a:off x="6309360" y="5541264"/>
            <a:ext cx="533095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IBM Plex Sans" pitchFamily="34" charset="0"/>
                <a:ea typeface="IBM Plex Sans" pitchFamily="34" charset="-122"/>
                <a:cs typeface="IBM Plex Sans" pitchFamily="34" charset="-120"/>
              </a:rPr>
              <a:t>Reviews and availability unrelated</a:t>
            </a:r>
            <a:endParaRPr lang="en-US" sz="1200" dirty="0"/>
          </a:p>
        </p:txBody>
      </p:sp>
      <p:sp>
        <p:nvSpPr>
          <p:cNvPr id="11" name="Shape 7"/>
          <p:cNvSpPr/>
          <p:nvPr/>
        </p:nvSpPr>
        <p:spPr>
          <a:xfrm>
            <a:off x="4279392" y="6062472"/>
            <a:ext cx="173736" cy="173736"/>
          </a:xfrm>
          <a:prstGeom prst="ellipse">
            <a:avLst/>
          </a:prstGeom>
          <a:solidFill>
            <a:srgbClr val="F4A664"/>
          </a:solidFill>
          <a:ln w="12700">
            <a:solidFill>
              <a:srgbClr val="333333"/>
            </a:solidFill>
            <a:prstDash val="solid"/>
          </a:ln>
        </p:spPr>
      </p:sp>
      <p:sp>
        <p:nvSpPr>
          <p:cNvPr id="12" name="Text 8"/>
          <p:cNvSpPr/>
          <p:nvPr/>
        </p:nvSpPr>
        <p:spPr>
          <a:xfrm>
            <a:off x="4608576" y="5943600"/>
            <a:ext cx="6949440" cy="457200"/>
          </a:xfrm>
          <a:prstGeom prst="rect">
            <a:avLst/>
          </a:prstGeom>
          <a:noFill/>
          <a:ln/>
        </p:spPr>
        <p:txBody>
          <a:bodyPr wrap="square" lIns="0" tIns="0" rIns="0" bIns="0" rtlCol="0" anchor="ctr"/>
          <a:lstStyle/>
          <a:p>
            <a:pPr indent="0" marL="0">
              <a:buNone/>
            </a:pPr>
            <a:r>
              <a:rPr lang="en-US" sz="1900" b="1" dirty="0">
                <a:solidFill>
                  <a:srgbClr val="522CBA"/>
                </a:solidFill>
                <a:latin typeface="IBM Plex Sans" pitchFamily="34" charset="0"/>
                <a:ea typeface="IBM Plex Sans" pitchFamily="34" charset="-122"/>
                <a:cs typeface="IBM Plex Sans" pitchFamily="34" charset="-120"/>
              </a:rPr>
              <a:t>2.4x for not sharing a front door</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Supply clusters</a:t>
            </a:r>
            <a:endParaRPr lang="en-US" sz="3400" dirty="0"/>
          </a:p>
        </p:txBody>
      </p:sp>
      <p:sp>
        <p:nvSpPr>
          <p:cNvPr id="3" name="Shape 1"/>
          <p:cNvSpPr/>
          <p:nvPr/>
        </p:nvSpPr>
        <p:spPr>
          <a:xfrm>
            <a:off x="585216" y="1138428"/>
            <a:ext cx="146304" cy="146304"/>
          </a:xfrm>
          <a:prstGeom prst="ellipse">
            <a:avLst/>
          </a:prstGeom>
          <a:solidFill>
            <a:srgbClr val="57E3D8"/>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221 neighbourhoods and 10 dominate</a:t>
            </a:r>
            <a:endParaRPr lang="en-US" sz="1500" dirty="0"/>
          </a:p>
        </p:txBody>
      </p:sp>
      <p:sp>
        <p:nvSpPr>
          <p:cNvPr id="5" name="Shape 3"/>
          <p:cNvSpPr/>
          <p:nvPr/>
        </p:nvSpPr>
        <p:spPr>
          <a:xfrm>
            <a:off x="566928" y="1572768"/>
            <a:ext cx="6949440" cy="4443984"/>
          </a:xfrm>
          <a:prstGeom prst="roundRect">
            <a:avLst>
              <a:gd name="adj" fmla="val 164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6" name="Image 0" descr="/tmp/claude-0/-home-user-Tuwaiq-Bootcamp/31d76967-b7b5-527c-bee1-8d14c00fddcd/scratchpad/plots/viz_5.png">    </p:cNvPr>
          <p:cNvPicPr>
            <a:picLocks noChangeAspect="1"/>
          </p:cNvPicPr>
          <p:nvPr/>
        </p:nvPicPr>
        <p:blipFill>
          <a:blip r:embed="rId1"/>
          <a:srcRect l="0" r="0" t="0" b="0"/>
          <a:stretch/>
        </p:blipFill>
        <p:spPr>
          <a:xfrm>
            <a:off x="676656" y="1682496"/>
            <a:ext cx="6729984" cy="4224528"/>
          </a:xfrm>
          <a:prstGeom prst="rect">
            <a:avLst/>
          </a:prstGeom>
        </p:spPr>
      </p:pic>
      <p:sp>
        <p:nvSpPr>
          <p:cNvPr id="7" name="Shape 4"/>
          <p:cNvSpPr/>
          <p:nvPr/>
        </p:nvSpPr>
        <p:spPr>
          <a:xfrm>
            <a:off x="7726680" y="1572768"/>
            <a:ext cx="3913632" cy="4443984"/>
          </a:xfrm>
          <a:prstGeom prst="roundRect">
            <a:avLst>
              <a:gd name="adj" fmla="val 1869"/>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8" name="Shape 5"/>
          <p:cNvSpPr/>
          <p:nvPr/>
        </p:nvSpPr>
        <p:spPr>
          <a:xfrm>
            <a:off x="8001000" y="1929384"/>
            <a:ext cx="137160" cy="137160"/>
          </a:xfrm>
          <a:prstGeom prst="ellipse">
            <a:avLst/>
          </a:prstGeom>
          <a:solidFill>
            <a:srgbClr val="F4A664"/>
          </a:solidFill>
          <a:ln w="12700">
            <a:solidFill>
              <a:srgbClr val="333333"/>
            </a:solidFill>
            <a:prstDash val="solid"/>
          </a:ln>
        </p:spPr>
      </p:sp>
      <p:sp>
        <p:nvSpPr>
          <p:cNvPr id="9" name="Text 6"/>
          <p:cNvSpPr/>
          <p:nvPr/>
        </p:nvSpPr>
        <p:spPr>
          <a:xfrm>
            <a:off x="8266176" y="1828800"/>
            <a:ext cx="3209544" cy="347472"/>
          </a:xfrm>
          <a:prstGeom prst="rect">
            <a:avLst/>
          </a:prstGeom>
          <a:noFill/>
          <a:ln/>
        </p:spPr>
        <p:txBody>
          <a:bodyPr wrap="square" lIns="0" tIns="0" rIns="0" bIns="0" rtlCol="0" anchor="ctr"/>
          <a:lstStyle/>
          <a:p>
            <a:pPr indent="0" marL="0">
              <a:buNone/>
            </a:pPr>
            <a:r>
              <a:rPr lang="en-US" sz="1700" b="1" dirty="0">
                <a:solidFill>
                  <a:srgbClr val="9B78F7"/>
                </a:solidFill>
                <a:latin typeface="IBM Plex Sans" pitchFamily="34" charset="0"/>
                <a:ea typeface="IBM Plex Sans" pitchFamily="34" charset="-122"/>
                <a:cs typeface="IBM Plex Sans" pitchFamily="34" charset="-120"/>
              </a:rPr>
              <a:t>Why it matters</a:t>
            </a:r>
            <a:endParaRPr lang="en-US" sz="1700" dirty="0"/>
          </a:p>
        </p:txBody>
      </p:sp>
      <p:sp>
        <p:nvSpPr>
          <p:cNvPr id="10" name="Text 7"/>
          <p:cNvSpPr/>
          <p:nvPr/>
        </p:nvSpPr>
        <p:spPr>
          <a:xfrm>
            <a:off x="8001000" y="2340864"/>
            <a:ext cx="3383280" cy="3291840"/>
          </a:xfrm>
          <a:prstGeom prst="rect">
            <a:avLst/>
          </a:prstGeom>
          <a:noFill/>
          <a:ln/>
        </p:spPr>
        <p:txBody>
          <a:bodyPr wrap="square" lIns="0" tIns="0" rIns="0" bIns="0" rtlCol="0" anchor="ctr"/>
          <a:lstStyle/>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Williamsburg and Bed-Stuy lead</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High cardinality with 221 columns if encoded</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Most have too few listings to price</a:t>
            </a:r>
            <a:endParaRPr lang="en-US" sz="1400" dirty="0"/>
          </a:p>
          <a:p>
            <a:pPr marL="342900" indent="-342900">
              <a:spcAft>
                <a:spcPts val="1100"/>
              </a:spcAft>
              <a:buSzPct val="100000"/>
              <a:buChar char="•"/>
            </a:pPr>
            <a:r>
              <a:rPr lang="en-US" sz="1400" dirty="0">
                <a:solidFill>
                  <a:srgbClr val="000000"/>
                </a:solidFill>
                <a:latin typeface="IBM Plex Sans" pitchFamily="34" charset="0"/>
                <a:ea typeface="IBM Plex Sans" pitchFamily="34" charset="-122"/>
                <a:cs typeface="IBM Plex Sans" pitchFamily="34" charset="-120"/>
              </a:rPr>
              <a:t>Group the tail or fall back to borough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What the data says</a:t>
            </a:r>
            <a:endParaRPr lang="en-US" sz="3400" dirty="0"/>
          </a:p>
        </p:txBody>
      </p:sp>
      <p:sp>
        <p:nvSpPr>
          <p:cNvPr id="3" name="Shape 1"/>
          <p:cNvSpPr/>
          <p:nvPr/>
        </p:nvSpPr>
        <p:spPr>
          <a:xfrm>
            <a:off x="585216" y="1138428"/>
            <a:ext cx="146304" cy="146304"/>
          </a:xfrm>
          <a:prstGeom prst="ellipse">
            <a:avLst/>
          </a:prstGeom>
          <a:solidFill>
            <a:srgbClr val="F4A664"/>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Six of the ten in the notebook</a:t>
            </a:r>
            <a:endParaRPr lang="en-US" sz="1500" dirty="0"/>
          </a:p>
        </p:txBody>
      </p:sp>
      <p:sp>
        <p:nvSpPr>
          <p:cNvPr id="5" name="Shape 3"/>
          <p:cNvSpPr/>
          <p:nvPr/>
        </p:nvSpPr>
        <p:spPr>
          <a:xfrm>
            <a:off x="566928" y="1627632"/>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6" name="Shape 4"/>
          <p:cNvSpPr/>
          <p:nvPr/>
        </p:nvSpPr>
        <p:spPr>
          <a:xfrm>
            <a:off x="841248" y="1938528"/>
            <a:ext cx="146304" cy="146304"/>
          </a:xfrm>
          <a:prstGeom prst="ellipse">
            <a:avLst/>
          </a:prstGeom>
          <a:solidFill>
            <a:srgbClr val="57E3D8"/>
          </a:solidFill>
          <a:ln w="12700">
            <a:solidFill>
              <a:srgbClr val="333333"/>
            </a:solidFill>
            <a:prstDash val="solid"/>
          </a:ln>
        </p:spPr>
      </p:sp>
      <p:sp>
        <p:nvSpPr>
          <p:cNvPr id="7" name="Text 5"/>
          <p:cNvSpPr/>
          <p:nvPr/>
        </p:nvSpPr>
        <p:spPr>
          <a:xfrm>
            <a:off x="1078992" y="1828800"/>
            <a:ext cx="914400" cy="384048"/>
          </a:xfrm>
          <a:prstGeom prst="rect">
            <a:avLst/>
          </a:prstGeom>
          <a:noFill/>
          <a:ln/>
        </p:spPr>
        <p:txBody>
          <a:bodyPr wrap="square" lIns="0" tIns="0" rIns="0" bIns="0" rtlCol="0" anchor="ctr"/>
          <a:lstStyle/>
          <a:p>
            <a:pPr indent="0" marL="0">
              <a:buNone/>
            </a:pPr>
            <a:r>
              <a:rPr lang="en-US" sz="2100" b="1" dirty="0">
                <a:solidFill>
                  <a:srgbClr val="9B78F7"/>
                </a:solidFill>
                <a:latin typeface="IBM Plex Sans" pitchFamily="34" charset="0"/>
                <a:ea typeface="IBM Plex Sans" pitchFamily="34" charset="-122"/>
                <a:cs typeface="IBM Plex Sans" pitchFamily="34" charset="-120"/>
              </a:rPr>
              <a:t>01</a:t>
            </a:r>
            <a:endParaRPr lang="en-US" sz="2100" dirty="0"/>
          </a:p>
        </p:txBody>
      </p:sp>
      <p:sp>
        <p:nvSpPr>
          <p:cNvPr id="8" name="Text 6"/>
          <p:cNvSpPr/>
          <p:nvPr/>
        </p:nvSpPr>
        <p:spPr>
          <a:xfrm>
            <a:off x="841248" y="2359152"/>
            <a:ext cx="3017520" cy="694944"/>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Location beats everything</a:t>
            </a:r>
            <a:endParaRPr lang="en-US" sz="1600" dirty="0"/>
          </a:p>
        </p:txBody>
      </p:sp>
      <p:sp>
        <p:nvSpPr>
          <p:cNvPr id="9" name="Text 7"/>
          <p:cNvSpPr/>
          <p:nvPr/>
        </p:nvSpPr>
        <p:spPr>
          <a:xfrm>
            <a:off x="841248" y="3072384"/>
            <a:ext cx="301752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Manhattan 2x Brooklyn</a:t>
            </a:r>
            <a:endParaRPr lang="en-US" sz="1300" dirty="0"/>
          </a:p>
        </p:txBody>
      </p:sp>
      <p:sp>
        <p:nvSpPr>
          <p:cNvPr id="10" name="Shape 8"/>
          <p:cNvSpPr/>
          <p:nvPr/>
        </p:nvSpPr>
        <p:spPr>
          <a:xfrm>
            <a:off x="4325112" y="1627632"/>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1" name="Shape 9"/>
          <p:cNvSpPr/>
          <p:nvPr/>
        </p:nvSpPr>
        <p:spPr>
          <a:xfrm>
            <a:off x="4599432" y="1938528"/>
            <a:ext cx="146304" cy="146304"/>
          </a:xfrm>
          <a:prstGeom prst="ellipse">
            <a:avLst/>
          </a:prstGeom>
          <a:solidFill>
            <a:srgbClr val="F4A664"/>
          </a:solidFill>
          <a:ln w="12700">
            <a:solidFill>
              <a:srgbClr val="333333"/>
            </a:solidFill>
            <a:prstDash val="solid"/>
          </a:ln>
        </p:spPr>
      </p:sp>
      <p:sp>
        <p:nvSpPr>
          <p:cNvPr id="12" name="Text 10"/>
          <p:cNvSpPr/>
          <p:nvPr/>
        </p:nvSpPr>
        <p:spPr>
          <a:xfrm>
            <a:off x="4837176" y="1828800"/>
            <a:ext cx="914400" cy="384048"/>
          </a:xfrm>
          <a:prstGeom prst="rect">
            <a:avLst/>
          </a:prstGeom>
          <a:noFill/>
          <a:ln/>
        </p:spPr>
        <p:txBody>
          <a:bodyPr wrap="square" lIns="0" tIns="0" rIns="0" bIns="0" rtlCol="0" anchor="ctr"/>
          <a:lstStyle/>
          <a:p>
            <a:pPr indent="0" marL="0">
              <a:buNone/>
            </a:pPr>
            <a:r>
              <a:rPr lang="en-US" sz="2100" b="1" dirty="0">
                <a:solidFill>
                  <a:srgbClr val="9B78F7"/>
                </a:solidFill>
                <a:latin typeface="IBM Plex Sans" pitchFamily="34" charset="0"/>
                <a:ea typeface="IBM Plex Sans" pitchFamily="34" charset="-122"/>
                <a:cs typeface="IBM Plex Sans" pitchFamily="34" charset="-120"/>
              </a:rPr>
              <a:t>02</a:t>
            </a:r>
            <a:endParaRPr lang="en-US" sz="2100" dirty="0"/>
          </a:p>
        </p:txBody>
      </p:sp>
      <p:sp>
        <p:nvSpPr>
          <p:cNvPr id="13" name="Text 11"/>
          <p:cNvSpPr/>
          <p:nvPr/>
        </p:nvSpPr>
        <p:spPr>
          <a:xfrm>
            <a:off x="4599432" y="2359152"/>
            <a:ext cx="3017520" cy="694944"/>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Privacy is the product</a:t>
            </a:r>
            <a:endParaRPr lang="en-US" sz="1600" dirty="0"/>
          </a:p>
        </p:txBody>
      </p:sp>
      <p:sp>
        <p:nvSpPr>
          <p:cNvPr id="14" name="Text 12"/>
          <p:cNvSpPr/>
          <p:nvPr/>
        </p:nvSpPr>
        <p:spPr>
          <a:xfrm>
            <a:off x="4599432" y="3072384"/>
            <a:ext cx="301752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entire home 2.4x private</a:t>
            </a:r>
            <a:endParaRPr lang="en-US" sz="1300" dirty="0"/>
          </a:p>
        </p:txBody>
      </p:sp>
      <p:sp>
        <p:nvSpPr>
          <p:cNvPr id="15" name="Shape 13"/>
          <p:cNvSpPr/>
          <p:nvPr/>
        </p:nvSpPr>
        <p:spPr>
          <a:xfrm>
            <a:off x="8083296" y="1627632"/>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6" name="Shape 14"/>
          <p:cNvSpPr/>
          <p:nvPr/>
        </p:nvSpPr>
        <p:spPr>
          <a:xfrm>
            <a:off x="8357616" y="1938528"/>
            <a:ext cx="146304" cy="146304"/>
          </a:xfrm>
          <a:prstGeom prst="ellipse">
            <a:avLst/>
          </a:prstGeom>
          <a:solidFill>
            <a:srgbClr val="57E3D8"/>
          </a:solidFill>
          <a:ln w="12700">
            <a:solidFill>
              <a:srgbClr val="333333"/>
            </a:solidFill>
            <a:prstDash val="solid"/>
          </a:ln>
        </p:spPr>
      </p:sp>
      <p:sp>
        <p:nvSpPr>
          <p:cNvPr id="17" name="Text 15"/>
          <p:cNvSpPr/>
          <p:nvPr/>
        </p:nvSpPr>
        <p:spPr>
          <a:xfrm>
            <a:off x="8595360" y="1828800"/>
            <a:ext cx="914400" cy="384048"/>
          </a:xfrm>
          <a:prstGeom prst="rect">
            <a:avLst/>
          </a:prstGeom>
          <a:noFill/>
          <a:ln/>
        </p:spPr>
        <p:txBody>
          <a:bodyPr wrap="square" lIns="0" tIns="0" rIns="0" bIns="0" rtlCol="0" anchor="ctr"/>
          <a:lstStyle/>
          <a:p>
            <a:pPr indent="0" marL="0">
              <a:buNone/>
            </a:pPr>
            <a:r>
              <a:rPr lang="en-US" sz="2100" b="1" dirty="0">
                <a:solidFill>
                  <a:srgbClr val="9B78F7"/>
                </a:solidFill>
                <a:latin typeface="IBM Plex Sans" pitchFamily="34" charset="0"/>
                <a:ea typeface="IBM Plex Sans" pitchFamily="34" charset="-122"/>
                <a:cs typeface="IBM Plex Sans" pitchFamily="34" charset="-120"/>
              </a:rPr>
              <a:t>03</a:t>
            </a:r>
            <a:endParaRPr lang="en-US" sz="2100" dirty="0"/>
          </a:p>
        </p:txBody>
      </p:sp>
      <p:sp>
        <p:nvSpPr>
          <p:cNvPr id="18" name="Text 16"/>
          <p:cNvSpPr/>
          <p:nvPr/>
        </p:nvSpPr>
        <p:spPr>
          <a:xfrm>
            <a:off x="8357616" y="2359152"/>
            <a:ext cx="3017520" cy="694944"/>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The mean misleads</a:t>
            </a:r>
            <a:endParaRPr lang="en-US" sz="1600" dirty="0"/>
          </a:p>
        </p:txBody>
      </p:sp>
      <p:sp>
        <p:nvSpPr>
          <p:cNvPr id="19" name="Text 17"/>
          <p:cNvSpPr/>
          <p:nvPr/>
        </p:nvSpPr>
        <p:spPr>
          <a:xfrm>
            <a:off x="8357616" y="3072384"/>
            <a:ext cx="301752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$152 against $105 median</a:t>
            </a:r>
            <a:endParaRPr lang="en-US" sz="1300" dirty="0"/>
          </a:p>
        </p:txBody>
      </p:sp>
      <p:sp>
        <p:nvSpPr>
          <p:cNvPr id="20" name="Shape 18"/>
          <p:cNvSpPr/>
          <p:nvPr/>
        </p:nvSpPr>
        <p:spPr>
          <a:xfrm>
            <a:off x="566928" y="3840480"/>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1" name="Shape 19"/>
          <p:cNvSpPr/>
          <p:nvPr/>
        </p:nvSpPr>
        <p:spPr>
          <a:xfrm>
            <a:off x="841248" y="4151376"/>
            <a:ext cx="146304" cy="146304"/>
          </a:xfrm>
          <a:prstGeom prst="ellipse">
            <a:avLst/>
          </a:prstGeom>
          <a:solidFill>
            <a:srgbClr val="F4A664"/>
          </a:solidFill>
          <a:ln w="12700">
            <a:solidFill>
              <a:srgbClr val="333333"/>
            </a:solidFill>
            <a:prstDash val="solid"/>
          </a:ln>
        </p:spPr>
      </p:sp>
      <p:sp>
        <p:nvSpPr>
          <p:cNvPr id="22" name="Text 20"/>
          <p:cNvSpPr/>
          <p:nvPr/>
        </p:nvSpPr>
        <p:spPr>
          <a:xfrm>
            <a:off x="1078992" y="4041648"/>
            <a:ext cx="914400" cy="384048"/>
          </a:xfrm>
          <a:prstGeom prst="rect">
            <a:avLst/>
          </a:prstGeom>
          <a:noFill/>
          <a:ln/>
        </p:spPr>
        <p:txBody>
          <a:bodyPr wrap="square" lIns="0" tIns="0" rIns="0" bIns="0" rtlCol="0" anchor="ctr"/>
          <a:lstStyle/>
          <a:p>
            <a:pPr indent="0" marL="0">
              <a:buNone/>
            </a:pPr>
            <a:r>
              <a:rPr lang="en-US" sz="2100" b="1" dirty="0">
                <a:solidFill>
                  <a:srgbClr val="9B78F7"/>
                </a:solidFill>
                <a:latin typeface="IBM Plex Sans" pitchFamily="34" charset="0"/>
                <a:ea typeface="IBM Plex Sans" pitchFamily="34" charset="-122"/>
                <a:cs typeface="IBM Plex Sans" pitchFamily="34" charset="-120"/>
              </a:rPr>
              <a:t>04</a:t>
            </a:r>
            <a:endParaRPr lang="en-US" sz="2100" dirty="0"/>
          </a:p>
        </p:txBody>
      </p:sp>
      <p:sp>
        <p:nvSpPr>
          <p:cNvPr id="23" name="Text 21"/>
          <p:cNvSpPr/>
          <p:nvPr/>
        </p:nvSpPr>
        <p:spPr>
          <a:xfrm>
            <a:off x="841248" y="4572000"/>
            <a:ext cx="3017520" cy="694944"/>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Activity is not price</a:t>
            </a:r>
            <a:endParaRPr lang="en-US" sz="1600" dirty="0"/>
          </a:p>
        </p:txBody>
      </p:sp>
      <p:sp>
        <p:nvSpPr>
          <p:cNvPr id="24" name="Text 22"/>
          <p:cNvSpPr/>
          <p:nvPr/>
        </p:nvSpPr>
        <p:spPr>
          <a:xfrm>
            <a:off x="841248" y="5285232"/>
            <a:ext cx="301752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all correlations under 0.08</a:t>
            </a:r>
            <a:endParaRPr lang="en-US" sz="1300" dirty="0"/>
          </a:p>
        </p:txBody>
      </p:sp>
      <p:sp>
        <p:nvSpPr>
          <p:cNvPr id="25" name="Shape 23"/>
          <p:cNvSpPr/>
          <p:nvPr/>
        </p:nvSpPr>
        <p:spPr>
          <a:xfrm>
            <a:off x="4325112" y="3840480"/>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6" name="Shape 24"/>
          <p:cNvSpPr/>
          <p:nvPr/>
        </p:nvSpPr>
        <p:spPr>
          <a:xfrm>
            <a:off x="4599432" y="4151376"/>
            <a:ext cx="146304" cy="146304"/>
          </a:xfrm>
          <a:prstGeom prst="ellipse">
            <a:avLst/>
          </a:prstGeom>
          <a:solidFill>
            <a:srgbClr val="57E3D8"/>
          </a:solidFill>
          <a:ln w="12700">
            <a:solidFill>
              <a:srgbClr val="333333"/>
            </a:solidFill>
            <a:prstDash val="solid"/>
          </a:ln>
        </p:spPr>
      </p:sp>
      <p:sp>
        <p:nvSpPr>
          <p:cNvPr id="27" name="Text 25"/>
          <p:cNvSpPr/>
          <p:nvPr/>
        </p:nvSpPr>
        <p:spPr>
          <a:xfrm>
            <a:off x="4837176" y="4041648"/>
            <a:ext cx="914400" cy="384048"/>
          </a:xfrm>
          <a:prstGeom prst="rect">
            <a:avLst/>
          </a:prstGeom>
          <a:noFill/>
          <a:ln/>
        </p:spPr>
        <p:txBody>
          <a:bodyPr wrap="square" lIns="0" tIns="0" rIns="0" bIns="0" rtlCol="0" anchor="ctr"/>
          <a:lstStyle/>
          <a:p>
            <a:pPr indent="0" marL="0">
              <a:buNone/>
            </a:pPr>
            <a:r>
              <a:rPr lang="en-US" sz="2100" b="1" dirty="0">
                <a:solidFill>
                  <a:srgbClr val="9B78F7"/>
                </a:solidFill>
                <a:latin typeface="IBM Plex Sans" pitchFamily="34" charset="0"/>
                <a:ea typeface="IBM Plex Sans" pitchFamily="34" charset="-122"/>
                <a:cs typeface="IBM Plex Sans" pitchFamily="34" charset="-120"/>
              </a:rPr>
              <a:t>05</a:t>
            </a:r>
            <a:endParaRPr lang="en-US" sz="2100" dirty="0"/>
          </a:p>
        </p:txBody>
      </p:sp>
      <p:sp>
        <p:nvSpPr>
          <p:cNvPr id="28" name="Text 26"/>
          <p:cNvSpPr/>
          <p:nvPr/>
        </p:nvSpPr>
        <p:spPr>
          <a:xfrm>
            <a:off x="4599432" y="4572000"/>
            <a:ext cx="3017520" cy="694944"/>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A fifth are invisible</a:t>
            </a:r>
            <a:endParaRPr lang="en-US" sz="1600" dirty="0"/>
          </a:p>
        </p:txBody>
      </p:sp>
      <p:sp>
        <p:nvSpPr>
          <p:cNvPr id="29" name="Text 27"/>
          <p:cNvSpPr/>
          <p:nvPr/>
        </p:nvSpPr>
        <p:spPr>
          <a:xfrm>
            <a:off x="4599432" y="5285232"/>
            <a:ext cx="301752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20.3% never reviewed</a:t>
            </a:r>
            <a:endParaRPr lang="en-US" sz="1300" dirty="0"/>
          </a:p>
        </p:txBody>
      </p:sp>
      <p:sp>
        <p:nvSpPr>
          <p:cNvPr id="30" name="Shape 28"/>
          <p:cNvSpPr/>
          <p:nvPr/>
        </p:nvSpPr>
        <p:spPr>
          <a:xfrm>
            <a:off x="8083296" y="3840480"/>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31" name="Shape 29"/>
          <p:cNvSpPr/>
          <p:nvPr/>
        </p:nvSpPr>
        <p:spPr>
          <a:xfrm>
            <a:off x="8357616" y="4151376"/>
            <a:ext cx="146304" cy="146304"/>
          </a:xfrm>
          <a:prstGeom prst="ellipse">
            <a:avLst/>
          </a:prstGeom>
          <a:solidFill>
            <a:srgbClr val="F4A664"/>
          </a:solidFill>
          <a:ln w="12700">
            <a:solidFill>
              <a:srgbClr val="333333"/>
            </a:solidFill>
            <a:prstDash val="solid"/>
          </a:ln>
        </p:spPr>
      </p:sp>
      <p:sp>
        <p:nvSpPr>
          <p:cNvPr id="32" name="Text 30"/>
          <p:cNvSpPr/>
          <p:nvPr/>
        </p:nvSpPr>
        <p:spPr>
          <a:xfrm>
            <a:off x="8595360" y="4041648"/>
            <a:ext cx="914400" cy="384048"/>
          </a:xfrm>
          <a:prstGeom prst="rect">
            <a:avLst/>
          </a:prstGeom>
          <a:noFill/>
          <a:ln/>
        </p:spPr>
        <p:txBody>
          <a:bodyPr wrap="square" lIns="0" tIns="0" rIns="0" bIns="0" rtlCol="0" anchor="ctr"/>
          <a:lstStyle/>
          <a:p>
            <a:pPr indent="0" marL="0">
              <a:buNone/>
            </a:pPr>
            <a:r>
              <a:rPr lang="en-US" sz="2100" b="1" dirty="0">
                <a:solidFill>
                  <a:srgbClr val="9B78F7"/>
                </a:solidFill>
                <a:latin typeface="IBM Plex Sans" pitchFamily="34" charset="0"/>
                <a:ea typeface="IBM Plex Sans" pitchFamily="34" charset="-122"/>
                <a:cs typeface="IBM Plex Sans" pitchFamily="34" charset="-120"/>
              </a:rPr>
              <a:t>06</a:t>
            </a:r>
            <a:endParaRPr lang="en-US" sz="2100" dirty="0"/>
          </a:p>
        </p:txBody>
      </p:sp>
      <p:sp>
        <p:nvSpPr>
          <p:cNvPr id="33" name="Text 31"/>
          <p:cNvSpPr/>
          <p:nvPr/>
        </p:nvSpPr>
        <p:spPr>
          <a:xfrm>
            <a:off x="8357616" y="4572000"/>
            <a:ext cx="3017520" cy="694944"/>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Professionals have arrived</a:t>
            </a:r>
            <a:endParaRPr lang="en-US" sz="1600" dirty="0"/>
          </a:p>
        </p:txBody>
      </p:sp>
      <p:sp>
        <p:nvSpPr>
          <p:cNvPr id="34" name="Text 32"/>
          <p:cNvSpPr/>
          <p:nvPr/>
        </p:nvSpPr>
        <p:spPr>
          <a:xfrm>
            <a:off x="8357616" y="5285232"/>
            <a:ext cx="3017520" cy="402336"/>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Sonder 327 · median host 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400" b="1" dirty="0">
                <a:solidFill>
                  <a:srgbClr val="522CBA"/>
                </a:solidFill>
                <a:latin typeface="IBM Plex Sans" pitchFamily="34" charset="0"/>
                <a:ea typeface="IBM Plex Sans" pitchFamily="34" charset="-122"/>
                <a:cs typeface="IBM Plex Sans" pitchFamily="34" charset="-120"/>
              </a:rPr>
              <a:t>What I would do about it</a:t>
            </a:r>
            <a:endParaRPr lang="en-US" sz="3400" dirty="0"/>
          </a:p>
        </p:txBody>
      </p:sp>
      <p:sp>
        <p:nvSpPr>
          <p:cNvPr id="3" name="Shape 1"/>
          <p:cNvSpPr/>
          <p:nvPr/>
        </p:nvSpPr>
        <p:spPr>
          <a:xfrm>
            <a:off x="585216" y="1138428"/>
            <a:ext cx="146304" cy="146304"/>
          </a:xfrm>
          <a:prstGeom prst="ellipse">
            <a:avLst/>
          </a:prstGeom>
          <a:solidFill>
            <a:srgbClr val="57E3D8"/>
          </a:solidFill>
          <a:ln w="12700">
            <a:solidFill>
              <a:srgbClr val="333333"/>
            </a:solidFill>
            <a:prstDash val="solid"/>
          </a:ln>
        </p:spPr>
      </p:sp>
      <p:sp>
        <p:nvSpPr>
          <p:cNvPr id="4" name="Text 2"/>
          <p:cNvSpPr/>
          <p:nvPr/>
        </p:nvSpPr>
        <p:spPr>
          <a:xfrm>
            <a:off x="859536" y="1042416"/>
            <a:ext cx="10789920" cy="329184"/>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Each one is tied to a finding</a:t>
            </a:r>
            <a:endParaRPr lang="en-US" sz="1500" dirty="0"/>
          </a:p>
        </p:txBody>
      </p:sp>
      <p:sp>
        <p:nvSpPr>
          <p:cNvPr id="5" name="Shape 3"/>
          <p:cNvSpPr/>
          <p:nvPr/>
        </p:nvSpPr>
        <p:spPr>
          <a:xfrm>
            <a:off x="566928" y="1645920"/>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6" name="Shape 4"/>
          <p:cNvSpPr/>
          <p:nvPr/>
        </p:nvSpPr>
        <p:spPr>
          <a:xfrm>
            <a:off x="859536" y="1837944"/>
            <a:ext cx="457200" cy="457200"/>
          </a:xfrm>
          <a:prstGeom prst="ellipse">
            <a:avLst/>
          </a:prstGeom>
          <a:solidFill>
            <a:srgbClr val="522CBA"/>
          </a:solidFill>
          <a:ln w="12700">
            <a:solidFill>
              <a:srgbClr val="333333"/>
            </a:solidFill>
            <a:prstDash val="solid"/>
          </a:ln>
        </p:spPr>
      </p:sp>
      <p:sp>
        <p:nvSpPr>
          <p:cNvPr id="7" name="Text 5"/>
          <p:cNvSpPr/>
          <p:nvPr/>
        </p:nvSpPr>
        <p:spPr>
          <a:xfrm>
            <a:off x="859536" y="1837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pitchFamily="34" charset="0"/>
                <a:ea typeface="IBM Plex Sans" pitchFamily="34" charset="-122"/>
                <a:cs typeface="IBM Plex Sans" pitchFamily="34" charset="-120"/>
              </a:rPr>
              <a:t>1</a:t>
            </a:r>
            <a:endParaRPr lang="en-US" sz="1500" dirty="0"/>
          </a:p>
        </p:txBody>
      </p:sp>
      <p:sp>
        <p:nvSpPr>
          <p:cNvPr id="8" name="Text 6"/>
          <p:cNvSpPr/>
          <p:nvPr/>
        </p:nvSpPr>
        <p:spPr>
          <a:xfrm>
            <a:off x="1517904" y="1737360"/>
            <a:ext cx="4754880" cy="658368"/>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Price on location and room type</a:t>
            </a:r>
            <a:endParaRPr lang="en-US" sz="1600" dirty="0"/>
          </a:p>
        </p:txBody>
      </p:sp>
      <p:sp>
        <p:nvSpPr>
          <p:cNvPr id="9" name="Text 7"/>
          <p:cNvSpPr/>
          <p:nvPr/>
        </p:nvSpPr>
        <p:spPr>
          <a:xfrm>
            <a:off x="6400800" y="1737360"/>
            <a:ext cx="5029200" cy="658368"/>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drop the features that predict nothing</a:t>
            </a:r>
            <a:endParaRPr lang="en-US" sz="1300" dirty="0"/>
          </a:p>
        </p:txBody>
      </p:sp>
      <p:sp>
        <p:nvSpPr>
          <p:cNvPr id="10" name="Shape 8"/>
          <p:cNvSpPr/>
          <p:nvPr/>
        </p:nvSpPr>
        <p:spPr>
          <a:xfrm>
            <a:off x="566928" y="2578608"/>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1" name="Shape 9"/>
          <p:cNvSpPr/>
          <p:nvPr/>
        </p:nvSpPr>
        <p:spPr>
          <a:xfrm>
            <a:off x="859536" y="2770632"/>
            <a:ext cx="457200" cy="457200"/>
          </a:xfrm>
          <a:prstGeom prst="ellipse">
            <a:avLst/>
          </a:prstGeom>
          <a:solidFill>
            <a:srgbClr val="9B78F7"/>
          </a:solidFill>
          <a:ln w="12700">
            <a:solidFill>
              <a:srgbClr val="333333"/>
            </a:solidFill>
            <a:prstDash val="solid"/>
          </a:ln>
        </p:spPr>
      </p:sp>
      <p:sp>
        <p:nvSpPr>
          <p:cNvPr id="12" name="Text 10"/>
          <p:cNvSpPr/>
          <p:nvPr/>
        </p:nvSpPr>
        <p:spPr>
          <a:xfrm>
            <a:off x="859536" y="27706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pitchFamily="34" charset="0"/>
                <a:ea typeface="IBM Plex Sans" pitchFamily="34" charset="-122"/>
                <a:cs typeface="IBM Plex Sans" pitchFamily="34" charset="-120"/>
              </a:rPr>
              <a:t>2</a:t>
            </a:r>
            <a:endParaRPr lang="en-US" sz="1500" dirty="0"/>
          </a:p>
        </p:txBody>
      </p:sp>
      <p:sp>
        <p:nvSpPr>
          <p:cNvPr id="13" name="Text 11"/>
          <p:cNvSpPr/>
          <p:nvPr/>
        </p:nvSpPr>
        <p:spPr>
          <a:xfrm>
            <a:off x="1517904" y="2670048"/>
            <a:ext cx="4754880" cy="658368"/>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Badge for new listings</a:t>
            </a:r>
            <a:endParaRPr lang="en-US" sz="1600" dirty="0"/>
          </a:p>
        </p:txBody>
      </p:sp>
      <p:sp>
        <p:nvSpPr>
          <p:cNvPr id="14" name="Text 12"/>
          <p:cNvSpPr/>
          <p:nvPr/>
        </p:nvSpPr>
        <p:spPr>
          <a:xfrm>
            <a:off x="6400800" y="2670048"/>
            <a:ext cx="5029200" cy="658368"/>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help the 20% with no reviews</a:t>
            </a:r>
            <a:endParaRPr lang="en-US" sz="1300" dirty="0"/>
          </a:p>
        </p:txBody>
      </p:sp>
      <p:sp>
        <p:nvSpPr>
          <p:cNvPr id="15" name="Shape 13"/>
          <p:cNvSpPr/>
          <p:nvPr/>
        </p:nvSpPr>
        <p:spPr>
          <a:xfrm>
            <a:off x="566928" y="3511296"/>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6" name="Shape 14"/>
          <p:cNvSpPr/>
          <p:nvPr/>
        </p:nvSpPr>
        <p:spPr>
          <a:xfrm>
            <a:off x="859536" y="3703320"/>
            <a:ext cx="457200" cy="457200"/>
          </a:xfrm>
          <a:prstGeom prst="ellipse">
            <a:avLst/>
          </a:prstGeom>
          <a:solidFill>
            <a:srgbClr val="57E3D8"/>
          </a:solidFill>
          <a:ln w="12700">
            <a:solidFill>
              <a:srgbClr val="333333"/>
            </a:solidFill>
            <a:prstDash val="solid"/>
          </a:ln>
        </p:spPr>
      </p:sp>
      <p:sp>
        <p:nvSpPr>
          <p:cNvPr id="17" name="Text 15"/>
          <p:cNvSpPr/>
          <p:nvPr/>
        </p:nvSpPr>
        <p:spPr>
          <a:xfrm>
            <a:off x="859536" y="3703320"/>
            <a:ext cx="457200" cy="457200"/>
          </a:xfrm>
          <a:prstGeom prst="rect">
            <a:avLst/>
          </a:prstGeom>
          <a:noFill/>
          <a:ln/>
        </p:spPr>
        <p:txBody>
          <a:bodyPr wrap="square" lIns="0" tIns="0" rIns="0" bIns="0" rtlCol="0" anchor="ctr"/>
          <a:lstStyle/>
          <a:p>
            <a:pPr algn="ctr" indent="0" marL="0">
              <a:buNone/>
            </a:pPr>
            <a:r>
              <a:rPr lang="en-US" sz="1500" b="1" dirty="0">
                <a:solidFill>
                  <a:srgbClr val="000000"/>
                </a:solidFill>
                <a:latin typeface="IBM Plex Sans" pitchFamily="34" charset="0"/>
                <a:ea typeface="IBM Plex Sans" pitchFamily="34" charset="-122"/>
                <a:cs typeface="IBM Plex Sans" pitchFamily="34" charset="-120"/>
              </a:rPr>
              <a:t>3</a:t>
            </a:r>
            <a:endParaRPr lang="en-US" sz="1500" dirty="0"/>
          </a:p>
        </p:txBody>
      </p:sp>
      <p:sp>
        <p:nvSpPr>
          <p:cNvPr id="18" name="Text 16"/>
          <p:cNvSpPr/>
          <p:nvPr/>
        </p:nvSpPr>
        <p:spPr>
          <a:xfrm>
            <a:off x="1517904" y="3602736"/>
            <a:ext cx="4754880" cy="658368"/>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Ship a real pause button</a:t>
            </a:r>
            <a:endParaRPr lang="en-US" sz="1600" dirty="0"/>
          </a:p>
        </p:txBody>
      </p:sp>
      <p:sp>
        <p:nvSpPr>
          <p:cNvPr id="19" name="Text 17"/>
          <p:cNvSpPr/>
          <p:nvPr/>
        </p:nvSpPr>
        <p:spPr>
          <a:xfrm>
            <a:off x="6400800" y="3602736"/>
            <a:ext cx="5029200" cy="658368"/>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hosts already fake one</a:t>
            </a:r>
            <a:endParaRPr lang="en-US" sz="1300" dirty="0"/>
          </a:p>
        </p:txBody>
      </p:sp>
      <p:sp>
        <p:nvSpPr>
          <p:cNvPr id="20" name="Shape 18"/>
          <p:cNvSpPr/>
          <p:nvPr/>
        </p:nvSpPr>
        <p:spPr>
          <a:xfrm>
            <a:off x="566928" y="4443984"/>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1" name="Shape 19"/>
          <p:cNvSpPr/>
          <p:nvPr/>
        </p:nvSpPr>
        <p:spPr>
          <a:xfrm>
            <a:off x="859536" y="4636008"/>
            <a:ext cx="457200" cy="457200"/>
          </a:xfrm>
          <a:prstGeom prst="ellipse">
            <a:avLst/>
          </a:prstGeom>
          <a:solidFill>
            <a:srgbClr val="F4A664"/>
          </a:solidFill>
          <a:ln w="12700">
            <a:solidFill>
              <a:srgbClr val="333333"/>
            </a:solidFill>
            <a:prstDash val="solid"/>
          </a:ln>
        </p:spPr>
      </p:sp>
      <p:sp>
        <p:nvSpPr>
          <p:cNvPr id="22" name="Text 20"/>
          <p:cNvSpPr/>
          <p:nvPr/>
        </p:nvSpPr>
        <p:spPr>
          <a:xfrm>
            <a:off x="859536" y="4636008"/>
            <a:ext cx="457200" cy="457200"/>
          </a:xfrm>
          <a:prstGeom prst="rect">
            <a:avLst/>
          </a:prstGeom>
          <a:noFill/>
          <a:ln/>
        </p:spPr>
        <p:txBody>
          <a:bodyPr wrap="square" lIns="0" tIns="0" rIns="0" bIns="0" rtlCol="0" anchor="ctr"/>
          <a:lstStyle/>
          <a:p>
            <a:pPr algn="ctr" indent="0" marL="0">
              <a:buNone/>
            </a:pPr>
            <a:r>
              <a:rPr lang="en-US" sz="1500" b="1" dirty="0">
                <a:solidFill>
                  <a:srgbClr val="000000"/>
                </a:solidFill>
                <a:latin typeface="IBM Plex Sans" pitchFamily="34" charset="0"/>
                <a:ea typeface="IBM Plex Sans" pitchFamily="34" charset="-122"/>
                <a:cs typeface="IBM Plex Sans" pitchFamily="34" charset="-120"/>
              </a:rPr>
              <a:t>4</a:t>
            </a:r>
            <a:endParaRPr lang="en-US" sz="1500" dirty="0"/>
          </a:p>
        </p:txBody>
      </p:sp>
      <p:sp>
        <p:nvSpPr>
          <p:cNvPr id="23" name="Text 21"/>
          <p:cNvSpPr/>
          <p:nvPr/>
        </p:nvSpPr>
        <p:spPr>
          <a:xfrm>
            <a:off x="1517904" y="4535424"/>
            <a:ext cx="4754880" cy="658368"/>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Recruit outside the core two</a:t>
            </a:r>
            <a:endParaRPr lang="en-US" sz="1600" dirty="0"/>
          </a:p>
        </p:txBody>
      </p:sp>
      <p:sp>
        <p:nvSpPr>
          <p:cNvPr id="24" name="Text 22"/>
          <p:cNvSpPr/>
          <p:nvPr/>
        </p:nvSpPr>
        <p:spPr>
          <a:xfrm>
            <a:off x="6400800" y="4535424"/>
            <a:ext cx="5029200" cy="658368"/>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Staten Island and the Bronx</a:t>
            </a:r>
            <a:endParaRPr lang="en-US" sz="1300" dirty="0"/>
          </a:p>
        </p:txBody>
      </p:sp>
      <p:sp>
        <p:nvSpPr>
          <p:cNvPr id="25" name="Shape 23"/>
          <p:cNvSpPr/>
          <p:nvPr/>
        </p:nvSpPr>
        <p:spPr>
          <a:xfrm>
            <a:off x="566928" y="5376672"/>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6" name="Shape 24"/>
          <p:cNvSpPr/>
          <p:nvPr/>
        </p:nvSpPr>
        <p:spPr>
          <a:xfrm>
            <a:off x="859536" y="5568696"/>
            <a:ext cx="457200" cy="457200"/>
          </a:xfrm>
          <a:prstGeom prst="ellipse">
            <a:avLst/>
          </a:prstGeom>
          <a:solidFill>
            <a:srgbClr val="522CBA"/>
          </a:solidFill>
          <a:ln w="12700">
            <a:solidFill>
              <a:srgbClr val="333333"/>
            </a:solidFill>
            <a:prstDash val="solid"/>
          </a:ln>
        </p:spPr>
      </p:sp>
      <p:sp>
        <p:nvSpPr>
          <p:cNvPr id="27" name="Text 25"/>
          <p:cNvSpPr/>
          <p:nvPr/>
        </p:nvSpPr>
        <p:spPr>
          <a:xfrm>
            <a:off x="859536" y="55686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pitchFamily="34" charset="0"/>
                <a:ea typeface="IBM Plex Sans" pitchFamily="34" charset="-122"/>
                <a:cs typeface="IBM Plex Sans" pitchFamily="34" charset="-120"/>
              </a:rPr>
              <a:t>5</a:t>
            </a:r>
            <a:endParaRPr lang="en-US" sz="1500" dirty="0"/>
          </a:p>
        </p:txBody>
      </p:sp>
      <p:sp>
        <p:nvSpPr>
          <p:cNvPr id="28" name="Text 26"/>
          <p:cNvSpPr/>
          <p:nvPr/>
        </p:nvSpPr>
        <p:spPr>
          <a:xfrm>
            <a:off x="1517904" y="5468112"/>
            <a:ext cx="4754880" cy="658368"/>
          </a:xfrm>
          <a:prstGeom prst="rect">
            <a:avLst/>
          </a:prstGeom>
          <a:noFill/>
          <a:ln/>
        </p:spPr>
        <p:txBody>
          <a:bodyPr wrap="square" lIns="0" tIns="0" rIns="0" bIns="0" rtlCol="0" anchor="ctr"/>
          <a:lstStyle/>
          <a:p>
            <a:pPr indent="0" marL="0">
              <a:buNone/>
            </a:pPr>
            <a:r>
              <a:rPr lang="en-US" sz="1600" b="1" dirty="0">
                <a:solidFill>
                  <a:srgbClr val="522CBA"/>
                </a:solidFill>
                <a:latin typeface="IBM Plex Sans" pitchFamily="34" charset="0"/>
                <a:ea typeface="IBM Plex Sans" pitchFamily="34" charset="-122"/>
                <a:cs typeface="IBM Plex Sans" pitchFamily="34" charset="-120"/>
              </a:rPr>
              <a:t>Flag duplicates at creation</a:t>
            </a:r>
            <a:endParaRPr lang="en-US" sz="1600" dirty="0"/>
          </a:p>
        </p:txBody>
      </p:sp>
      <p:sp>
        <p:nvSpPr>
          <p:cNvPr id="29" name="Text 27"/>
          <p:cNvSpPr/>
          <p:nvPr/>
        </p:nvSpPr>
        <p:spPr>
          <a:xfrm>
            <a:off x="6400800" y="5468112"/>
            <a:ext cx="5029200" cy="658368"/>
          </a:xfrm>
          <a:prstGeom prst="rect">
            <a:avLst/>
          </a:prstGeom>
          <a:noFill/>
          <a:ln/>
        </p:spPr>
        <p:txBody>
          <a:bodyPr wrap="square" lIns="0" tIns="0" rIns="0" bIns="0" rtlCol="0" anchor="ctr"/>
          <a:lstStyle/>
          <a:p>
            <a:pPr indent="0" marL="0">
              <a:buNone/>
            </a:pPr>
            <a:r>
              <a:rPr lang="en-US" sz="1300" dirty="0">
                <a:solidFill>
                  <a:srgbClr val="000000"/>
                </a:solidFill>
                <a:latin typeface="IBM Plex Sans" pitchFamily="34" charset="0"/>
                <a:ea typeface="IBM Plex Sans" pitchFamily="34" charset="-122"/>
                <a:cs typeface="IBM Plex Sans" pitchFamily="34" charset="-120"/>
              </a:rPr>
              <a:t>keep inventory counts honest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4206240"/>
            <a:ext cx="4572000" cy="4572000"/>
          </a:xfrm>
          <a:prstGeom prst="ellipse">
            <a:avLst/>
          </a:prstGeom>
          <a:solidFill>
            <a:srgbClr val="9B78F7">
              <a:alpha val="15000"/>
            </a:srgbClr>
          </a:solidFill>
          <a:ln w="12700">
            <a:solidFill>
              <a:srgbClr val="333333"/>
            </a:solidFill>
            <a:prstDash val="solid"/>
          </a:ln>
        </p:spPr>
      </p:sp>
      <p:sp>
        <p:nvSpPr>
          <p:cNvPr id="3" name="Shape 1"/>
          <p:cNvSpPr/>
          <p:nvPr/>
        </p:nvSpPr>
        <p:spPr>
          <a:xfrm>
            <a:off x="10607040" y="1051560"/>
            <a:ext cx="566928" cy="566928"/>
          </a:xfrm>
          <a:prstGeom prst="ellipse">
            <a:avLst/>
          </a:prstGeom>
          <a:solidFill>
            <a:srgbClr val="57E3D8"/>
          </a:solidFill>
          <a:ln w="12700">
            <a:solidFill>
              <a:srgbClr val="333333"/>
            </a:solidFill>
            <a:prstDash val="solid"/>
          </a:ln>
        </p:spPr>
      </p:sp>
      <p:sp>
        <p:nvSpPr>
          <p:cNvPr id="4" name="Shape 2"/>
          <p:cNvSpPr/>
          <p:nvPr/>
        </p:nvSpPr>
        <p:spPr>
          <a:xfrm>
            <a:off x="11430000" y="1783080"/>
            <a:ext cx="310896" cy="310896"/>
          </a:xfrm>
          <a:prstGeom prst="ellipse">
            <a:avLst/>
          </a:prstGeom>
          <a:solidFill>
            <a:srgbClr val="F4A664"/>
          </a:solidFill>
          <a:ln w="12700">
            <a:solidFill>
              <a:srgbClr val="333333"/>
            </a:solidFill>
            <a:prstDash val="solid"/>
          </a:ln>
        </p:spPr>
      </p:sp>
      <p:sp>
        <p:nvSpPr>
          <p:cNvPr id="5" name="Text 3"/>
          <p:cNvSpPr/>
          <p:nvPr/>
        </p:nvSpPr>
        <p:spPr>
          <a:xfrm>
            <a:off x="822960" y="960120"/>
            <a:ext cx="8229600" cy="310896"/>
          </a:xfrm>
          <a:prstGeom prst="rect">
            <a:avLst/>
          </a:prstGeom>
          <a:noFill/>
          <a:ln/>
        </p:spPr>
        <p:txBody>
          <a:bodyPr wrap="square" lIns="0" tIns="0" rIns="0" bIns="0" rtlCol="0" anchor="ctr"/>
          <a:lstStyle/>
          <a:p>
            <a:pPr indent="0" marL="0">
              <a:buNone/>
            </a:pPr>
            <a:r>
              <a:rPr lang="en-US" sz="1300" b="1" spc="300" kern="0" dirty="0">
                <a:solidFill>
                  <a:srgbClr val="9B78F7"/>
                </a:solidFill>
                <a:latin typeface="IBM Plex Sans" pitchFamily="34" charset="0"/>
                <a:ea typeface="IBM Plex Sans" pitchFamily="34" charset="-122"/>
                <a:cs typeface="IBM Plex Sans" pitchFamily="34" charset="-120"/>
              </a:rPr>
              <a:t>WHAT I TOOK AWAY</a:t>
            </a:r>
            <a:endParaRPr lang="en-US" sz="1300" dirty="0"/>
          </a:p>
        </p:txBody>
      </p:sp>
      <p:sp>
        <p:nvSpPr>
          <p:cNvPr id="6" name="Text 4"/>
          <p:cNvSpPr/>
          <p:nvPr/>
        </p:nvSpPr>
        <p:spPr>
          <a:xfrm>
            <a:off x="822960" y="1417320"/>
            <a:ext cx="9509760" cy="1371600"/>
          </a:xfrm>
          <a:prstGeom prst="rect">
            <a:avLst/>
          </a:prstGeom>
          <a:noFill/>
          <a:ln/>
        </p:spPr>
        <p:txBody>
          <a:bodyPr wrap="square" lIns="0" tIns="0" rIns="0" bIns="0" rtlCol="0" anchor="ctr"/>
          <a:lstStyle/>
          <a:p>
            <a:pPr indent="0" marL="0">
              <a:lnSpc>
                <a:spcPts val="4600"/>
              </a:lnSpc>
              <a:buNone/>
            </a:pPr>
            <a:r>
              <a:rPr lang="en-US" sz="3800" b="1" dirty="0">
                <a:solidFill>
                  <a:srgbClr val="522CBA"/>
                </a:solidFill>
                <a:latin typeface="IBM Plex Sans" pitchFamily="34" charset="0"/>
                <a:ea typeface="IBM Plex Sans" pitchFamily="34" charset="-122"/>
                <a:cs typeface="IBM Plex Sans" pitchFamily="34" charset="-120"/>
              </a:rPr>
              <a:t>EDA is the argument</a:t>
            </a:r>
            <a:endParaRPr lang="en-US" sz="3800" dirty="0"/>
          </a:p>
          <a:p>
            <a:pPr indent="0" marL="0">
              <a:lnSpc>
                <a:spcPts val="4600"/>
              </a:lnSpc>
              <a:buNone/>
            </a:pPr>
            <a:r>
              <a:rPr lang="en-US" sz="3800" b="1" dirty="0">
                <a:solidFill>
                  <a:srgbClr val="522CBA"/>
                </a:solidFill>
                <a:latin typeface="IBM Plex Sans" pitchFamily="34" charset="0"/>
                <a:ea typeface="IBM Plex Sans" pitchFamily="34" charset="-122"/>
                <a:cs typeface="IBM Plex Sans" pitchFamily="34" charset="-120"/>
              </a:rPr>
              <a:t>not the output.</a:t>
            </a:r>
            <a:endParaRPr lang="en-US" sz="3800" dirty="0"/>
          </a:p>
        </p:txBody>
      </p:sp>
      <p:sp>
        <p:nvSpPr>
          <p:cNvPr id="7" name="Shape 5"/>
          <p:cNvSpPr/>
          <p:nvPr/>
        </p:nvSpPr>
        <p:spPr>
          <a:xfrm>
            <a:off x="822960" y="3337560"/>
            <a:ext cx="3246120" cy="1600200"/>
          </a:xfrm>
          <a:prstGeom prst="roundRect">
            <a:avLst>
              <a:gd name="adj" fmla="val 4571"/>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8" name="Shape 6"/>
          <p:cNvSpPr/>
          <p:nvPr/>
        </p:nvSpPr>
        <p:spPr>
          <a:xfrm>
            <a:off x="1060704" y="3602736"/>
            <a:ext cx="137160" cy="137160"/>
          </a:xfrm>
          <a:prstGeom prst="ellipse">
            <a:avLst/>
          </a:prstGeom>
          <a:solidFill>
            <a:srgbClr val="57E3D8"/>
          </a:solidFill>
          <a:ln w="12700">
            <a:solidFill>
              <a:srgbClr val="333333"/>
            </a:solidFill>
            <a:prstDash val="solid"/>
          </a:ln>
        </p:spPr>
      </p:sp>
      <p:sp>
        <p:nvSpPr>
          <p:cNvPr id="9" name="Text 7"/>
          <p:cNvSpPr/>
          <p:nvPr/>
        </p:nvSpPr>
        <p:spPr>
          <a:xfrm>
            <a:off x="1325880" y="3502152"/>
            <a:ext cx="2523744" cy="347472"/>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Hardest</a:t>
            </a:r>
            <a:endParaRPr lang="en-US" sz="1500" dirty="0"/>
          </a:p>
        </p:txBody>
      </p:sp>
      <p:sp>
        <p:nvSpPr>
          <p:cNvPr id="10" name="Text 8"/>
          <p:cNvSpPr/>
          <p:nvPr/>
        </p:nvSpPr>
        <p:spPr>
          <a:xfrm>
            <a:off x="1060704" y="3968496"/>
            <a:ext cx="2788920" cy="859536"/>
          </a:xfrm>
          <a:prstGeom prst="rect">
            <a:avLst/>
          </a:prstGeom>
          <a:noFill/>
          <a:ln/>
        </p:spPr>
        <p:txBody>
          <a:bodyPr wrap="square" lIns="0" tIns="0" rIns="0" bIns="0" rtlCol="0" anchor="ctr"/>
          <a:lstStyle/>
          <a:p>
            <a:pPr indent="0" marL="0">
              <a:buNone/>
            </a:pPr>
            <a:r>
              <a:rPr lang="en-US" sz="1400" dirty="0">
                <a:solidFill>
                  <a:srgbClr val="000000"/>
                </a:solidFill>
                <a:latin typeface="IBM Plex Sans" pitchFamily="34" charset="0"/>
                <a:ea typeface="IBM Plex Sans" pitchFamily="34" charset="-122"/>
                <a:cs typeface="IBM Plex Sans" pitchFamily="34" charset="-120"/>
              </a:rPr>
              <a:t>defining what counts as the same listing</a:t>
            </a:r>
            <a:endParaRPr lang="en-US" sz="1400" dirty="0"/>
          </a:p>
        </p:txBody>
      </p:sp>
      <p:sp>
        <p:nvSpPr>
          <p:cNvPr id="11" name="Shape 9"/>
          <p:cNvSpPr/>
          <p:nvPr/>
        </p:nvSpPr>
        <p:spPr>
          <a:xfrm>
            <a:off x="4434840" y="3337560"/>
            <a:ext cx="3246120" cy="1600200"/>
          </a:xfrm>
          <a:prstGeom prst="roundRect">
            <a:avLst>
              <a:gd name="adj" fmla="val 4571"/>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2" name="Shape 10"/>
          <p:cNvSpPr/>
          <p:nvPr/>
        </p:nvSpPr>
        <p:spPr>
          <a:xfrm>
            <a:off x="4672584" y="3602736"/>
            <a:ext cx="137160" cy="137160"/>
          </a:xfrm>
          <a:prstGeom prst="ellipse">
            <a:avLst/>
          </a:prstGeom>
          <a:solidFill>
            <a:srgbClr val="F4A664"/>
          </a:solidFill>
          <a:ln w="12700">
            <a:solidFill>
              <a:srgbClr val="333333"/>
            </a:solidFill>
            <a:prstDash val="solid"/>
          </a:ln>
        </p:spPr>
      </p:sp>
      <p:sp>
        <p:nvSpPr>
          <p:cNvPr id="13" name="Text 11"/>
          <p:cNvSpPr/>
          <p:nvPr/>
        </p:nvSpPr>
        <p:spPr>
          <a:xfrm>
            <a:off x="4937760" y="3502152"/>
            <a:ext cx="2523744" cy="347472"/>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Best judgement</a:t>
            </a:r>
            <a:endParaRPr lang="en-US" sz="1500" dirty="0"/>
          </a:p>
        </p:txBody>
      </p:sp>
      <p:sp>
        <p:nvSpPr>
          <p:cNvPr id="14" name="Text 12"/>
          <p:cNvSpPr/>
          <p:nvPr/>
        </p:nvSpPr>
        <p:spPr>
          <a:xfrm>
            <a:off x="4672584" y="3968496"/>
            <a:ext cx="2788920" cy="859536"/>
          </a:xfrm>
          <a:prstGeom prst="rect">
            <a:avLst/>
          </a:prstGeom>
          <a:noFill/>
          <a:ln/>
        </p:spPr>
        <p:txBody>
          <a:bodyPr wrap="square" lIns="0" tIns="0" rIns="0" bIns="0" rtlCol="0" anchor="ctr"/>
          <a:lstStyle/>
          <a:p>
            <a:pPr indent="0" marL="0">
              <a:buNone/>
            </a:pPr>
            <a:r>
              <a:rPr lang="en-US" sz="1400" dirty="0">
                <a:solidFill>
                  <a:srgbClr val="000000"/>
                </a:solidFill>
                <a:latin typeface="IBM Plex Sans" pitchFamily="34" charset="0"/>
                <a:ea typeface="IBM Plex Sans" pitchFamily="34" charset="-122"/>
                <a:cs typeface="IBM Plex Sans" pitchFamily="34" charset="-120"/>
              </a:rPr>
              <a:t>kept the 1,250-night signal</a:t>
            </a:r>
            <a:endParaRPr lang="en-US" sz="1400" dirty="0"/>
          </a:p>
        </p:txBody>
      </p:sp>
      <p:sp>
        <p:nvSpPr>
          <p:cNvPr id="15" name="Shape 13"/>
          <p:cNvSpPr/>
          <p:nvPr/>
        </p:nvSpPr>
        <p:spPr>
          <a:xfrm>
            <a:off x="8046720" y="3337560"/>
            <a:ext cx="3246120" cy="1600200"/>
          </a:xfrm>
          <a:prstGeom prst="roundRect">
            <a:avLst>
              <a:gd name="adj" fmla="val 4571"/>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6" name="Shape 14"/>
          <p:cNvSpPr/>
          <p:nvPr/>
        </p:nvSpPr>
        <p:spPr>
          <a:xfrm>
            <a:off x="8284464" y="3602736"/>
            <a:ext cx="137160" cy="137160"/>
          </a:xfrm>
          <a:prstGeom prst="ellipse">
            <a:avLst/>
          </a:prstGeom>
          <a:solidFill>
            <a:srgbClr val="57E3D8"/>
          </a:solidFill>
          <a:ln w="12700">
            <a:solidFill>
              <a:srgbClr val="333333"/>
            </a:solidFill>
            <a:prstDash val="solid"/>
          </a:ln>
        </p:spPr>
      </p:sp>
      <p:sp>
        <p:nvSpPr>
          <p:cNvPr id="17" name="Text 15"/>
          <p:cNvSpPr/>
          <p:nvPr/>
        </p:nvSpPr>
        <p:spPr>
          <a:xfrm>
            <a:off x="8549640" y="3502152"/>
            <a:ext cx="2523744" cy="347472"/>
          </a:xfrm>
          <a:prstGeom prst="rect">
            <a:avLst/>
          </a:prstGeom>
          <a:noFill/>
          <a:ln/>
        </p:spPr>
        <p:txBody>
          <a:bodyPr wrap="square" lIns="0" tIns="0" rIns="0" bIns="0" rtlCol="0" anchor="ctr"/>
          <a:lstStyle/>
          <a:p>
            <a:pPr indent="0" marL="0">
              <a:buNone/>
            </a:pPr>
            <a:r>
              <a:rPr lang="en-US" sz="1500" b="1" dirty="0">
                <a:solidFill>
                  <a:srgbClr val="9B78F7"/>
                </a:solidFill>
                <a:latin typeface="IBM Plex Sans" pitchFamily="34" charset="0"/>
                <a:ea typeface="IBM Plex Sans" pitchFamily="34" charset="-122"/>
                <a:cs typeface="IBM Plex Sans" pitchFamily="34" charset="-120"/>
              </a:rPr>
              <a:t>Next time</a:t>
            </a:r>
            <a:endParaRPr lang="en-US" sz="1500" dirty="0"/>
          </a:p>
        </p:txBody>
      </p:sp>
      <p:sp>
        <p:nvSpPr>
          <p:cNvPr id="18" name="Text 16"/>
          <p:cNvSpPr/>
          <p:nvPr/>
        </p:nvSpPr>
        <p:spPr>
          <a:xfrm>
            <a:off x="8284464" y="3968496"/>
            <a:ext cx="2788920" cy="859536"/>
          </a:xfrm>
          <a:prstGeom prst="rect">
            <a:avLst/>
          </a:prstGeom>
          <a:noFill/>
          <a:ln/>
        </p:spPr>
        <p:txBody>
          <a:bodyPr wrap="square" lIns="0" tIns="0" rIns="0" bIns="0" rtlCol="0" anchor="ctr"/>
          <a:lstStyle/>
          <a:p>
            <a:pPr indent="0" marL="0">
              <a:buNone/>
            </a:pPr>
            <a:r>
              <a:rPr lang="en-US" sz="1400" dirty="0">
                <a:solidFill>
                  <a:srgbClr val="000000"/>
                </a:solidFill>
                <a:latin typeface="IBM Plex Sans" pitchFamily="34" charset="0"/>
                <a:ea typeface="IBM Plex Sans" pitchFamily="34" charset="-122"/>
                <a:cs typeface="IBM Plex Sans" pitchFamily="34" charset="-120"/>
              </a:rPr>
              <a:t>dedupe before the missing-value audit</a:t>
            </a:r>
            <a:endParaRPr lang="en-US" sz="1400" dirty="0"/>
          </a:p>
        </p:txBody>
      </p:sp>
      <p:sp>
        <p:nvSpPr>
          <p:cNvPr id="19" name="Text 17"/>
          <p:cNvSpPr/>
          <p:nvPr/>
        </p:nvSpPr>
        <p:spPr>
          <a:xfrm>
            <a:off x="822960" y="5623560"/>
            <a:ext cx="10515600" cy="402336"/>
          </a:xfrm>
          <a:prstGeom prst="rect">
            <a:avLst/>
          </a:prstGeom>
          <a:noFill/>
          <a:ln/>
        </p:spPr>
        <p:txBody>
          <a:bodyPr wrap="square" lIns="0" tIns="0" rIns="0" bIns="0" rtlCol="0" anchor="ctr"/>
          <a:lstStyle/>
          <a:p>
            <a:pPr indent="0" marL="0">
              <a:buNone/>
            </a:pPr>
            <a:r>
              <a:rPr lang="en-US" sz="1900" b="1" dirty="0">
                <a:solidFill>
                  <a:srgbClr val="522CBA"/>
                </a:solidFill>
                <a:latin typeface="IBM Plex Sans" pitchFamily="34" charset="0"/>
                <a:ea typeface="IBM Plex Sans" pitchFamily="34" charset="-122"/>
                <a:cs typeface="IBM Plex Sans" pitchFamily="34" charset="-120"/>
              </a:rPr>
              <a:t>Thank you  ·  Khalid Al Dosari</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Airbnb Listings: Exploratory Data Analysis</dc:title>
  <dc:subject>PptxGenJS Presentation</dc:subject>
  <dc:creator>Khalid Al Dosari</dc:creator>
  <cp:lastModifiedBy>Khalid Al Dosari</cp:lastModifiedBy>
  <cp:revision>1</cp:revision>
  <dcterms:created xsi:type="dcterms:W3CDTF">2026-07-30T14:13:04Z</dcterms:created>
  <dcterms:modified xsi:type="dcterms:W3CDTF">2026-07-30T14:13:04Z</dcterms:modified>
</cp:coreProperties>
</file>